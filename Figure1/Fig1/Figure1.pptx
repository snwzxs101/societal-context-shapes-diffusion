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0" r:id="rId2"/>
  </p:sldIdLst>
  <p:sldSz cx="9144000" cy="7383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83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1522" y="67"/>
      </p:cViewPr>
      <p:guideLst>
        <p:guide orient="horz" pos="2683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646530"/>
            <a:ext cx="7772400" cy="18261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4827649"/>
            <a:ext cx="6400800" cy="21771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74491"/>
            <a:ext cx="7772400" cy="1692044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610877"/>
            <a:ext cx="7772400" cy="1863614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87856"/>
            <a:ext cx="4038600" cy="56223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7856"/>
            <a:ext cx="4038600" cy="562239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07001"/>
            <a:ext cx="4040188" cy="7947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701748"/>
            <a:ext cx="4040188" cy="490850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907001"/>
            <a:ext cx="4041775" cy="79474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701748"/>
            <a:ext cx="4041775" cy="490850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339197"/>
            <a:ext cx="3008313" cy="144356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339198"/>
            <a:ext cx="5111750" cy="727105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782760"/>
            <a:ext cx="3008313" cy="582749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5963566"/>
            <a:ext cx="5486400" cy="704033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761223"/>
            <a:ext cx="5486400" cy="511162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6667599"/>
            <a:ext cx="5486400" cy="99984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41171"/>
            <a:ext cx="2057400" cy="72690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41171"/>
            <a:ext cx="6019800" cy="726908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341170"/>
            <a:ext cx="8229600" cy="141989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987856"/>
            <a:ext cx="8229600" cy="5622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7896204"/>
            <a:ext cx="2133600" cy="4535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7896204"/>
            <a:ext cx="2895600" cy="4535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7896204"/>
            <a:ext cx="2133600" cy="4535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00.png"/><Relationship Id="rId18" Type="http://schemas.openxmlformats.org/officeDocument/2006/relationships/image" Target="../media/image17.png"/><Relationship Id="rId26" Type="http://schemas.openxmlformats.org/officeDocument/2006/relationships/image" Target="../media/image24.png"/><Relationship Id="rId39" Type="http://schemas.openxmlformats.org/officeDocument/2006/relationships/image" Target="../media/image37.png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42" Type="http://schemas.openxmlformats.org/officeDocument/2006/relationships/image" Target="../media/image40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9" Type="http://schemas.openxmlformats.org/officeDocument/2006/relationships/image" Target="../media/image2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png"/><Relationship Id="rId40" Type="http://schemas.openxmlformats.org/officeDocument/2006/relationships/image" Target="../media/image38.png"/><Relationship Id="rId45" Type="http://schemas.openxmlformats.org/officeDocument/2006/relationships/image" Target="../media/image43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1.svg"/><Relationship Id="rId28" Type="http://schemas.openxmlformats.org/officeDocument/2006/relationships/image" Target="../media/image26.jpg"/><Relationship Id="rId36" Type="http://schemas.openxmlformats.org/officeDocument/2006/relationships/image" Target="../media/image34.png"/><Relationship Id="rId10" Type="http://schemas.openxmlformats.org/officeDocument/2006/relationships/image" Target="../media/image9.svg"/><Relationship Id="rId19" Type="http://schemas.openxmlformats.org/officeDocument/2006/relationships/image" Target="../media/image13.png"/><Relationship Id="rId31" Type="http://schemas.openxmlformats.org/officeDocument/2006/relationships/image" Target="../media/image29.png"/><Relationship Id="rId44" Type="http://schemas.openxmlformats.org/officeDocument/2006/relationships/image" Target="../media/image42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svg"/><Relationship Id="rId30" Type="http://schemas.openxmlformats.org/officeDocument/2006/relationships/image" Target="../media/image28.png"/><Relationship Id="rId35" Type="http://schemas.openxmlformats.org/officeDocument/2006/relationships/image" Target="../media/image33.png"/><Relationship Id="rId43" Type="http://schemas.openxmlformats.org/officeDocument/2006/relationships/image" Target="../media/image41.png"/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3.svg"/><Relationship Id="rId33" Type="http://schemas.openxmlformats.org/officeDocument/2006/relationships/image" Target="../media/image31.pn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20" Type="http://schemas.openxmlformats.org/officeDocument/2006/relationships/image" Target="../media/image18.png"/><Relationship Id="rId41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Connector 29">
            <a:extLst>
              <a:ext uri="{FF2B5EF4-FFF2-40B4-BE49-F238E27FC236}">
                <a16:creationId xmlns:a16="http://schemas.microsoft.com/office/drawing/2014/main" id="{C4DC8432-3592-481B-AAF7-B1615C41B573}"/>
              </a:ext>
            </a:extLst>
          </p:cNvPr>
          <p:cNvCxnSpPr>
            <a:cxnSpLocks/>
          </p:cNvCxnSpPr>
          <p:nvPr/>
        </p:nvCxnSpPr>
        <p:spPr>
          <a:xfrm>
            <a:off x="4863232" y="5048279"/>
            <a:ext cx="430281" cy="0"/>
          </a:xfrm>
          <a:prstGeom prst="line">
            <a:avLst/>
          </a:prstGeom>
          <a:ln w="25400">
            <a:solidFill>
              <a:srgbClr val="C8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6" name="图片 165">
            <a:extLst>
              <a:ext uri="{FF2B5EF4-FFF2-40B4-BE49-F238E27FC236}">
                <a16:creationId xmlns:a16="http://schemas.microsoft.com/office/drawing/2014/main" id="{30066561-97B1-44A8-8590-6C704CD2C3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9046" y="4673702"/>
            <a:ext cx="2120609" cy="771292"/>
          </a:xfrm>
          <a:prstGeom prst="rect">
            <a:avLst/>
          </a:prstGeom>
          <a:effectLst>
            <a:softEdge rad="38100"/>
          </a:effectLst>
        </p:spPr>
      </p:pic>
      <p:cxnSp>
        <p:nvCxnSpPr>
          <p:cNvPr id="154" name="Connector 29">
            <a:extLst>
              <a:ext uri="{FF2B5EF4-FFF2-40B4-BE49-F238E27FC236}">
                <a16:creationId xmlns:a16="http://schemas.microsoft.com/office/drawing/2014/main" id="{3A867C09-B776-4F0C-AB8D-E45BE9A3C06E}"/>
              </a:ext>
            </a:extLst>
          </p:cNvPr>
          <p:cNvCxnSpPr>
            <a:cxnSpLocks/>
          </p:cNvCxnSpPr>
          <p:nvPr/>
        </p:nvCxnSpPr>
        <p:spPr>
          <a:xfrm>
            <a:off x="3265648" y="5059502"/>
            <a:ext cx="228600" cy="0"/>
          </a:xfrm>
          <a:prstGeom prst="line">
            <a:avLst/>
          </a:prstGeom>
          <a:ln w="25400">
            <a:solidFill>
              <a:srgbClr val="C8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29">
            <a:extLst>
              <a:ext uri="{FF2B5EF4-FFF2-40B4-BE49-F238E27FC236}">
                <a16:creationId xmlns:a16="http://schemas.microsoft.com/office/drawing/2014/main" id="{B2DC8FFC-85F3-4072-ACE4-7454C9515BD6}"/>
              </a:ext>
            </a:extLst>
          </p:cNvPr>
          <p:cNvCxnSpPr>
            <a:cxnSpLocks/>
          </p:cNvCxnSpPr>
          <p:nvPr/>
        </p:nvCxnSpPr>
        <p:spPr>
          <a:xfrm>
            <a:off x="2165813" y="5063869"/>
            <a:ext cx="228600" cy="0"/>
          </a:xfrm>
          <a:prstGeom prst="line">
            <a:avLst/>
          </a:prstGeom>
          <a:ln w="25400">
            <a:solidFill>
              <a:srgbClr val="C8CDD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c_targets_box">
            <a:extLst>
              <a:ext uri="{FF2B5EF4-FFF2-40B4-BE49-F238E27FC236}">
                <a16:creationId xmlns:a16="http://schemas.microsoft.com/office/drawing/2014/main" id="{125206EB-6AB7-43CF-9B81-4BAE9AD1843A}"/>
              </a:ext>
            </a:extLst>
          </p:cNvPr>
          <p:cNvSpPr/>
          <p:nvPr/>
        </p:nvSpPr>
        <p:spPr>
          <a:xfrm>
            <a:off x="1128396" y="4614190"/>
            <a:ext cx="1097280" cy="992086"/>
          </a:xfrm>
          <a:prstGeom prst="rect">
            <a:avLst/>
          </a:prstGeom>
          <a:solidFill>
            <a:srgbClr val="FFFFFF"/>
          </a:solidFill>
          <a:ln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2" name="图片 111">
            <a:extLst>
              <a:ext uri="{FF2B5EF4-FFF2-40B4-BE49-F238E27FC236}">
                <a16:creationId xmlns:a16="http://schemas.microsoft.com/office/drawing/2014/main" id="{B2F34DC3-F646-490B-B7E0-2191EEAB1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8530" y="3228280"/>
            <a:ext cx="1549158" cy="1091138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4541A65-4BEA-4608-9842-B52FE0D73E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6844" y="926815"/>
            <a:ext cx="757157" cy="381859"/>
          </a:xfrm>
          <a:prstGeom prst="rect">
            <a:avLst/>
          </a:prstGeom>
          <a:effectLst>
            <a:softEdge rad="38100"/>
          </a:effectLst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7142572E-9B3C-4EFF-883E-52687BB1EF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14092" y="959215"/>
            <a:ext cx="438324" cy="320386"/>
          </a:xfrm>
          <a:prstGeom prst="rect">
            <a:avLst/>
          </a:prstGeom>
          <a:effectLst>
            <a:softEdge rad="50800"/>
          </a:effec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CD39964B-4CD0-49FA-9377-5D0B07F4D4D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03373" y="980592"/>
            <a:ext cx="512539" cy="337809"/>
          </a:xfrm>
          <a:prstGeom prst="rect">
            <a:avLst/>
          </a:prstGeom>
          <a:effectLst>
            <a:softEdge rad="38100"/>
          </a:effectLst>
        </p:spPr>
      </p:pic>
      <p:sp>
        <p:nvSpPr>
          <p:cNvPr id="10" name="矩形: 圆角 9">
            <a:extLst>
              <a:ext uri="{FF2B5EF4-FFF2-40B4-BE49-F238E27FC236}">
                <a16:creationId xmlns:a16="http://schemas.microsoft.com/office/drawing/2014/main" id="{1914AB0B-984B-48BC-909A-BFBEF077AF3D}"/>
              </a:ext>
            </a:extLst>
          </p:cNvPr>
          <p:cNvSpPr/>
          <p:nvPr/>
        </p:nvSpPr>
        <p:spPr>
          <a:xfrm>
            <a:off x="1168776" y="746619"/>
            <a:ext cx="2847975" cy="183836"/>
          </a:xfrm>
          <a:prstGeom prst="roundRect">
            <a:avLst/>
          </a:prstGeom>
          <a:solidFill>
            <a:schemeClr val="tx2">
              <a:lumMod val="40000"/>
              <a:lumOff val="60000"/>
              <a:alpha val="1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1050" b="1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Original/Alpha       →     Delta      →      Omicron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07C92F54-AC88-4083-BF9D-1F3063B807A7}"/>
              </a:ext>
            </a:extLst>
          </p:cNvPr>
          <p:cNvSpPr/>
          <p:nvPr/>
        </p:nvSpPr>
        <p:spPr>
          <a:xfrm>
            <a:off x="1114532" y="42897"/>
            <a:ext cx="6219825" cy="1905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US" altLang="zh-CN" sz="1400" b="1" dirty="0">
                <a:solidFill>
                  <a:schemeClr val="tx1"/>
                </a:solidFill>
              </a:rPr>
              <a:t>a</a:t>
            </a:r>
            <a:r>
              <a:rPr lang="en-GB" altLang="zh-CN" sz="1400" b="1" dirty="0">
                <a:solidFill>
                  <a:schemeClr val="tx1"/>
                </a:solidFill>
              </a:rPr>
              <a:t>. Data &amp; problem setup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72126C9B-A8D4-48B2-8764-F13E8BA47298}"/>
              </a:ext>
            </a:extLst>
          </p:cNvPr>
          <p:cNvSpPr/>
          <p:nvPr/>
        </p:nvSpPr>
        <p:spPr>
          <a:xfrm>
            <a:off x="1114531" y="1357313"/>
            <a:ext cx="6219825" cy="1905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altLang="zh-CN" sz="1400" b="1" dirty="0">
                <a:solidFill>
                  <a:schemeClr val="tx1"/>
                </a:solidFill>
              </a:rPr>
              <a:t>b. PINN learning of SMF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3FC8E1F-8E91-43A8-956A-DF419CAD08E9}"/>
              </a:ext>
            </a:extLst>
          </p:cNvPr>
          <p:cNvSpPr/>
          <p:nvPr/>
        </p:nvSpPr>
        <p:spPr>
          <a:xfrm>
            <a:off x="1114532" y="2862204"/>
            <a:ext cx="6219825" cy="1905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altLang="zh-CN" sz="1400" b="1" dirty="0">
                <a:solidFill>
                  <a:schemeClr val="tx1"/>
                </a:solidFill>
              </a:rPr>
              <a:t>c. Morphology &amp; shape landscape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076AD093-C9A0-4F54-B7CD-F2DD0FBB9590}"/>
              </a:ext>
            </a:extLst>
          </p:cNvPr>
          <p:cNvSpPr/>
          <p:nvPr/>
        </p:nvSpPr>
        <p:spPr>
          <a:xfrm>
            <a:off x="1114530" y="4314859"/>
            <a:ext cx="6219825" cy="1905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altLang="zh-CN" sz="1400" b="1" dirty="0">
                <a:solidFill>
                  <a:schemeClr val="tx1"/>
                </a:solidFill>
              </a:rPr>
              <a:t>d. </a:t>
            </a:r>
            <a:r>
              <a:rPr lang="en-US" altLang="zh-CN" sz="1400" b="1" dirty="0">
                <a:solidFill>
                  <a:schemeClr val="tx1"/>
                </a:solidFill>
              </a:rPr>
              <a:t>Alignment with societal context &amp; period sensitivity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A83FC54B-2210-40E3-A5A8-6FDF4B602F5D}"/>
              </a:ext>
            </a:extLst>
          </p:cNvPr>
          <p:cNvSpPr/>
          <p:nvPr/>
        </p:nvSpPr>
        <p:spPr>
          <a:xfrm>
            <a:off x="1114529" y="5729355"/>
            <a:ext cx="6219825" cy="19055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/>
            <a:r>
              <a:rPr lang="en-GB" altLang="zh-CN" sz="1400" b="1" dirty="0">
                <a:solidFill>
                  <a:schemeClr val="tx1"/>
                </a:solidFill>
              </a:rPr>
              <a:t>e. </a:t>
            </a:r>
            <a:r>
              <a:rPr lang="en-US" altLang="zh-CN" sz="1400" b="1" dirty="0">
                <a:solidFill>
                  <a:schemeClr val="tx1"/>
                </a:solidFill>
              </a:rPr>
              <a:t>Context-aware action guidance</a:t>
            </a:r>
            <a:endParaRPr lang="zh-CN" altLang="en-US" sz="1400" b="1" dirty="0">
              <a:solidFill>
                <a:schemeClr val="tx1"/>
              </a:solidFill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C703E6FA-F7B1-4503-9F2C-D6DAD27E5CAE}"/>
              </a:ext>
            </a:extLst>
          </p:cNvPr>
          <p:cNvSpPr txBox="1"/>
          <p:nvPr/>
        </p:nvSpPr>
        <p:spPr>
          <a:xfrm>
            <a:off x="1153441" y="438057"/>
            <a:ext cx="254307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210 province-level waves</a:t>
            </a:r>
            <a:r>
              <a:rPr lang="zh-CN" altLang="en-GB" sz="900" b="1" dirty="0">
                <a:latin typeface="Arial" panose="020B0604020202020204" pitchFamily="34" charset="0"/>
                <a:cs typeface="Arial" panose="020B0604020202020204" pitchFamily="34" charset="0"/>
              </a:rPr>
              <a:t> ｜</a:t>
            </a:r>
            <a:r>
              <a:rPr lang="en-GB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 30 provinces</a:t>
            </a:r>
            <a:endParaRPr lang="zh-CN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图形 8" descr="统计数据 纯色填充">
            <a:extLst>
              <a:ext uri="{FF2B5EF4-FFF2-40B4-BE49-F238E27FC236}">
                <a16:creationId xmlns:a16="http://schemas.microsoft.com/office/drawing/2014/main" id="{6305C6C7-E6A9-4B54-9F95-3C8DF6CE5B1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388263" y="304822"/>
            <a:ext cx="428517" cy="375302"/>
          </a:xfrm>
          <a:prstGeom prst="rect">
            <a:avLst/>
          </a:prstGeom>
        </p:spPr>
      </p:pic>
      <p:pic>
        <p:nvPicPr>
          <p:cNvPr id="19" name="图形 18" descr="标记 纯色填充">
            <a:extLst>
              <a:ext uri="{FF2B5EF4-FFF2-40B4-BE49-F238E27FC236}">
                <a16:creationId xmlns:a16="http://schemas.microsoft.com/office/drawing/2014/main" id="{A9A8D538-AFA1-4966-8C55-3D1A0B20BB3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2144705" y="746619"/>
            <a:ext cx="188731" cy="188731"/>
          </a:xfrm>
          <a:prstGeom prst="rect">
            <a:avLst/>
          </a:prstGeom>
        </p:spPr>
      </p:pic>
      <p:pic>
        <p:nvPicPr>
          <p:cNvPr id="21" name="图形 20" descr="标记 纯色填充">
            <a:extLst>
              <a:ext uri="{FF2B5EF4-FFF2-40B4-BE49-F238E27FC236}">
                <a16:creationId xmlns:a16="http://schemas.microsoft.com/office/drawing/2014/main" id="{5514FB9E-AA95-4A25-A7B8-12BE9416531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930726" y="732716"/>
            <a:ext cx="188731" cy="18873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BD9ABE2D-A226-45EF-95B8-6CC33E53B981}"/>
                  </a:ext>
                </a:extLst>
              </p:cNvPr>
              <p:cNvSpPr txBox="1"/>
              <p:nvPr/>
            </p:nvSpPr>
            <p:spPr>
              <a:xfrm>
                <a:off x="5086422" y="245316"/>
                <a:ext cx="2072940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Learn an interpretable susceptibility mobilization function, </a:t>
                </a:r>
                <a14:m>
                  <m:oMath xmlns:m="http://schemas.openxmlformats.org/officeDocument/2006/math">
                    <m:r>
                      <a:rPr lang="en-US" altLang="zh-CN" sz="800" b="1" i="1" dirty="0" smtClean="0"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800" b="1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800" b="1" i="1" dirty="0" smtClean="0"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sz="800" b="1" i="1" dirty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80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, for each wave that bends the epidemic curve</a:t>
                </a:r>
                <a:endParaRPr lang="zh-CN" altLang="en-US" sz="80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BD9ABE2D-A226-45EF-95B8-6CC33E53B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6422" y="245316"/>
                <a:ext cx="2072940" cy="461665"/>
              </a:xfrm>
              <a:prstGeom prst="rect">
                <a:avLst/>
              </a:prstGeom>
              <a:blipFill>
                <a:blip r:embed="rId13"/>
                <a:stretch>
                  <a:fillRect b="-26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文本框 22">
            <a:extLst>
              <a:ext uri="{FF2B5EF4-FFF2-40B4-BE49-F238E27FC236}">
                <a16:creationId xmlns:a16="http://schemas.microsoft.com/office/drawing/2014/main" id="{E11E16AC-263A-4A2B-8CBA-C99BC200C727}"/>
              </a:ext>
            </a:extLst>
          </p:cNvPr>
          <p:cNvSpPr txBox="1"/>
          <p:nvPr/>
        </p:nvSpPr>
        <p:spPr>
          <a:xfrm>
            <a:off x="1933494" y="878512"/>
            <a:ext cx="1469879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b="1" dirty="0">
                <a:solidFill>
                  <a:schemeClr val="accent6">
                    <a:lumMod val="50000"/>
                  </a:schemeClr>
                </a:solidFill>
              </a:rPr>
              <a:t>2021.6                2022.1</a:t>
            </a:r>
            <a:endParaRPr lang="zh-CN" altLang="en-US" sz="10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25" name="c_icon_Climate">
            <a:extLst>
              <a:ext uri="{FF2B5EF4-FFF2-40B4-BE49-F238E27FC236}">
                <a16:creationId xmlns:a16="http://schemas.microsoft.com/office/drawing/2014/main" id="{9A3AD9E6-C5CB-4AB2-95C5-27D24FE82E0C}"/>
              </a:ext>
            </a:extLst>
          </p:cNvPr>
          <p:cNvSpPr/>
          <p:nvPr/>
        </p:nvSpPr>
        <p:spPr>
          <a:xfrm>
            <a:off x="4852012" y="840296"/>
            <a:ext cx="554002" cy="1414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 dirty="0">
              <a:solidFill>
                <a:schemeClr val="tx1"/>
              </a:solidFill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A4F72C3D-1DA3-4AC6-B973-32560BA528C1}"/>
              </a:ext>
            </a:extLst>
          </p:cNvPr>
          <p:cNvSpPr txBox="1"/>
          <p:nvPr/>
        </p:nvSpPr>
        <p:spPr>
          <a:xfrm>
            <a:off x="4974266" y="1170044"/>
            <a:ext cx="245017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800" b="1" dirty="0">
                <a:latin typeface="Arial" panose="020B0604020202020204" pitchFamily="34" charset="0"/>
                <a:cs typeface="Arial" panose="020B0604020202020204" pitchFamily="34" charset="0"/>
              </a:rPr>
              <a:t>Domains will be used for alignment (HBM)</a:t>
            </a:r>
            <a:endParaRPr lang="zh-CN" altLang="en-US" sz="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FA399FC1-9050-44E5-8263-C311B0A3C278}"/>
              </a:ext>
            </a:extLst>
          </p:cNvPr>
          <p:cNvCxnSpPr/>
          <p:nvPr/>
        </p:nvCxnSpPr>
        <p:spPr>
          <a:xfrm>
            <a:off x="4101152" y="354710"/>
            <a:ext cx="0" cy="809054"/>
          </a:xfrm>
          <a:prstGeom prst="line">
            <a:avLst/>
          </a:prstGeom>
          <a:ln w="1524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58AE71AC-AE36-4210-B7F3-71C1C105C254}"/>
              </a:ext>
            </a:extLst>
          </p:cNvPr>
          <p:cNvCxnSpPr/>
          <p:nvPr/>
        </p:nvCxnSpPr>
        <p:spPr>
          <a:xfrm>
            <a:off x="4417560" y="720373"/>
            <a:ext cx="2818262" cy="11377"/>
          </a:xfrm>
          <a:prstGeom prst="line">
            <a:avLst/>
          </a:prstGeom>
          <a:ln w="12700"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8" name="图片 37">
            <a:extLst>
              <a:ext uri="{FF2B5EF4-FFF2-40B4-BE49-F238E27FC236}">
                <a16:creationId xmlns:a16="http://schemas.microsoft.com/office/drawing/2014/main" id="{C60C5BAF-95D1-4900-82AA-C17564F073E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169451" y="812249"/>
            <a:ext cx="652917" cy="488536"/>
          </a:xfrm>
          <a:prstGeom prst="rect">
            <a:avLst/>
          </a:prstGeom>
        </p:spPr>
      </p:pic>
      <p:sp>
        <p:nvSpPr>
          <p:cNvPr id="40" name="文本框 39">
            <a:extLst>
              <a:ext uri="{FF2B5EF4-FFF2-40B4-BE49-F238E27FC236}">
                <a16:creationId xmlns:a16="http://schemas.microsoft.com/office/drawing/2014/main" id="{523C86DE-56E5-4A7E-BD17-7D56683AAE5D}"/>
              </a:ext>
            </a:extLst>
          </p:cNvPr>
          <p:cNvSpPr txBox="1"/>
          <p:nvPr/>
        </p:nvSpPr>
        <p:spPr>
          <a:xfrm>
            <a:off x="4791262" y="796637"/>
            <a:ext cx="68711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900" dirty="0">
                <a:solidFill>
                  <a:schemeClr val="accent5">
                    <a:lumMod val="75000"/>
                  </a:schemeClr>
                </a:solidFill>
              </a:rPr>
              <a:t>Tourism</a:t>
            </a:r>
          </a:p>
        </p:txBody>
      </p:sp>
      <p:sp>
        <p:nvSpPr>
          <p:cNvPr id="52" name="c_icon_Climate">
            <a:extLst>
              <a:ext uri="{FF2B5EF4-FFF2-40B4-BE49-F238E27FC236}">
                <a16:creationId xmlns:a16="http://schemas.microsoft.com/office/drawing/2014/main" id="{510632CF-E7C4-48C3-B78C-0AB740FAA407}"/>
              </a:ext>
            </a:extLst>
          </p:cNvPr>
          <p:cNvSpPr/>
          <p:nvPr/>
        </p:nvSpPr>
        <p:spPr>
          <a:xfrm>
            <a:off x="5489752" y="849480"/>
            <a:ext cx="554002" cy="1414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 dirty="0">
              <a:solidFill>
                <a:schemeClr val="tx1"/>
              </a:solidFill>
            </a:endParaRPr>
          </a:p>
        </p:txBody>
      </p:sp>
      <p:sp>
        <p:nvSpPr>
          <p:cNvPr id="53" name="c_icon_Climate">
            <a:extLst>
              <a:ext uri="{FF2B5EF4-FFF2-40B4-BE49-F238E27FC236}">
                <a16:creationId xmlns:a16="http://schemas.microsoft.com/office/drawing/2014/main" id="{6F9961C8-7EC8-4457-AD87-EF257C3CDA9F}"/>
              </a:ext>
            </a:extLst>
          </p:cNvPr>
          <p:cNvSpPr/>
          <p:nvPr/>
        </p:nvSpPr>
        <p:spPr>
          <a:xfrm>
            <a:off x="6115344" y="848714"/>
            <a:ext cx="554002" cy="1414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 dirty="0">
              <a:solidFill>
                <a:schemeClr val="tx1"/>
              </a:solidFill>
            </a:endParaRPr>
          </a:p>
        </p:txBody>
      </p:sp>
      <p:sp>
        <p:nvSpPr>
          <p:cNvPr id="54" name="c_icon_Climate">
            <a:extLst>
              <a:ext uri="{FF2B5EF4-FFF2-40B4-BE49-F238E27FC236}">
                <a16:creationId xmlns:a16="http://schemas.microsoft.com/office/drawing/2014/main" id="{29960BD5-6DDD-4D61-86A6-D337E67E7D8B}"/>
              </a:ext>
            </a:extLst>
          </p:cNvPr>
          <p:cNvSpPr/>
          <p:nvPr/>
        </p:nvSpPr>
        <p:spPr>
          <a:xfrm>
            <a:off x="6738541" y="847903"/>
            <a:ext cx="554002" cy="1414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 dirty="0">
              <a:solidFill>
                <a:schemeClr val="tx1"/>
              </a:solidFill>
            </a:endParaRPr>
          </a:p>
        </p:txBody>
      </p:sp>
      <p:sp>
        <p:nvSpPr>
          <p:cNvPr id="55" name="c_icon_Climate">
            <a:extLst>
              <a:ext uri="{FF2B5EF4-FFF2-40B4-BE49-F238E27FC236}">
                <a16:creationId xmlns:a16="http://schemas.microsoft.com/office/drawing/2014/main" id="{66A6B4EC-4937-42AB-B6C0-D77CD654E45C}"/>
              </a:ext>
            </a:extLst>
          </p:cNvPr>
          <p:cNvSpPr/>
          <p:nvPr/>
        </p:nvSpPr>
        <p:spPr>
          <a:xfrm>
            <a:off x="5157514" y="1007896"/>
            <a:ext cx="554002" cy="1414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 dirty="0">
              <a:solidFill>
                <a:schemeClr val="tx1"/>
              </a:solidFill>
            </a:endParaRPr>
          </a:p>
        </p:txBody>
      </p:sp>
      <p:sp>
        <p:nvSpPr>
          <p:cNvPr id="56" name="c_icon_Climate">
            <a:extLst>
              <a:ext uri="{FF2B5EF4-FFF2-40B4-BE49-F238E27FC236}">
                <a16:creationId xmlns:a16="http://schemas.microsoft.com/office/drawing/2014/main" id="{098125ED-E6CD-43C9-902A-F3B3888FA0B0}"/>
              </a:ext>
            </a:extLst>
          </p:cNvPr>
          <p:cNvSpPr/>
          <p:nvPr/>
        </p:nvSpPr>
        <p:spPr>
          <a:xfrm>
            <a:off x="5801081" y="1021940"/>
            <a:ext cx="554002" cy="1414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 dirty="0">
              <a:solidFill>
                <a:schemeClr val="tx1"/>
              </a:solidFill>
            </a:endParaRPr>
          </a:p>
        </p:txBody>
      </p:sp>
      <p:sp>
        <p:nvSpPr>
          <p:cNvPr id="57" name="c_icon_Climate">
            <a:extLst>
              <a:ext uri="{FF2B5EF4-FFF2-40B4-BE49-F238E27FC236}">
                <a16:creationId xmlns:a16="http://schemas.microsoft.com/office/drawing/2014/main" id="{C40BB0BB-BC42-4B38-A317-598B3C71D4C1}"/>
              </a:ext>
            </a:extLst>
          </p:cNvPr>
          <p:cNvSpPr/>
          <p:nvPr/>
        </p:nvSpPr>
        <p:spPr>
          <a:xfrm>
            <a:off x="6444649" y="1025655"/>
            <a:ext cx="554002" cy="14144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8CD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900" dirty="0">
              <a:solidFill>
                <a:schemeClr val="tx1"/>
              </a:solidFill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F3869376-0EBC-43E6-B3EC-A521DBE8D5A8}"/>
              </a:ext>
            </a:extLst>
          </p:cNvPr>
          <p:cNvSpPr txBox="1"/>
          <p:nvPr/>
        </p:nvSpPr>
        <p:spPr>
          <a:xfrm>
            <a:off x="5324715" y="791108"/>
            <a:ext cx="88407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900" dirty="0">
                <a:solidFill>
                  <a:schemeClr val="accent5">
                    <a:lumMod val="75000"/>
                  </a:schemeClr>
                </a:solidFill>
              </a:rPr>
              <a:t>Urbanicity</a:t>
            </a: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95EEDB5A-FEF3-4D8A-9B3C-E6F01BD17560}"/>
              </a:ext>
            </a:extLst>
          </p:cNvPr>
          <p:cNvSpPr txBox="1"/>
          <p:nvPr/>
        </p:nvSpPr>
        <p:spPr>
          <a:xfrm>
            <a:off x="6019900" y="796637"/>
            <a:ext cx="75660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900" dirty="0">
                <a:solidFill>
                  <a:schemeClr val="accent5">
                    <a:lumMod val="75000"/>
                  </a:schemeClr>
                </a:solidFill>
              </a:rPr>
              <a:t>Healthcare</a:t>
            </a:r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DAB2183C-521A-4DD8-A9E3-5460B1FE008B}"/>
              </a:ext>
            </a:extLst>
          </p:cNvPr>
          <p:cNvSpPr txBox="1"/>
          <p:nvPr/>
        </p:nvSpPr>
        <p:spPr>
          <a:xfrm>
            <a:off x="6609435" y="791876"/>
            <a:ext cx="778432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900" dirty="0">
                <a:solidFill>
                  <a:schemeClr val="accent5">
                    <a:lumMod val="75000"/>
                  </a:schemeClr>
                </a:solidFill>
              </a:rPr>
              <a:t>Economy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B1FF9CE0-1390-488D-9BA3-A76BC481017C}"/>
              </a:ext>
            </a:extLst>
          </p:cNvPr>
          <p:cNvSpPr txBox="1"/>
          <p:nvPr/>
        </p:nvSpPr>
        <p:spPr>
          <a:xfrm>
            <a:off x="5091832" y="962734"/>
            <a:ext cx="65112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900" dirty="0">
                <a:solidFill>
                  <a:schemeClr val="accent5">
                    <a:lumMod val="75000"/>
                  </a:schemeClr>
                </a:solidFill>
              </a:rPr>
              <a:t>Climate</a:t>
            </a: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BE56282B-3D3B-444C-80FE-F62C75148A06}"/>
              </a:ext>
            </a:extLst>
          </p:cNvPr>
          <p:cNvSpPr txBox="1"/>
          <p:nvPr/>
        </p:nvSpPr>
        <p:spPr>
          <a:xfrm>
            <a:off x="5630293" y="974043"/>
            <a:ext cx="91458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900" dirty="0">
                <a:solidFill>
                  <a:schemeClr val="accent5">
                    <a:lumMod val="75000"/>
                  </a:schemeClr>
                </a:solidFill>
              </a:rPr>
              <a:t>Mobility</a:t>
            </a: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DAB7E662-B1BC-4CA6-A8BA-C0707A877A8B}"/>
              </a:ext>
            </a:extLst>
          </p:cNvPr>
          <p:cNvSpPr txBox="1"/>
          <p:nvPr/>
        </p:nvSpPr>
        <p:spPr>
          <a:xfrm>
            <a:off x="6276325" y="977942"/>
            <a:ext cx="91458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altLang="zh-CN" sz="900" dirty="0">
                <a:solidFill>
                  <a:schemeClr val="accent5">
                    <a:lumMod val="75000"/>
                  </a:schemeClr>
                </a:solidFill>
              </a:rPr>
              <a:t>Population</a:t>
            </a:r>
          </a:p>
        </p:txBody>
      </p:sp>
      <p:grpSp>
        <p:nvGrpSpPr>
          <p:cNvPr id="78" name="组合 77">
            <a:extLst>
              <a:ext uri="{FF2B5EF4-FFF2-40B4-BE49-F238E27FC236}">
                <a16:creationId xmlns:a16="http://schemas.microsoft.com/office/drawing/2014/main" id="{19FDEA55-C2B1-4F57-B632-42EABE9B70B3}"/>
              </a:ext>
            </a:extLst>
          </p:cNvPr>
          <p:cNvGrpSpPr/>
          <p:nvPr/>
        </p:nvGrpSpPr>
        <p:grpSpPr>
          <a:xfrm>
            <a:off x="1343260" y="1734059"/>
            <a:ext cx="1042804" cy="588474"/>
            <a:chOff x="1486016" y="1625702"/>
            <a:chExt cx="1322030" cy="687826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矩形: 圆角 60">
                  <a:extLst>
                    <a:ext uri="{FF2B5EF4-FFF2-40B4-BE49-F238E27FC236}">
                      <a16:creationId xmlns:a16="http://schemas.microsoft.com/office/drawing/2014/main" id="{5CF58645-706F-4C8B-BD2A-B938BAD757BD}"/>
                    </a:ext>
                  </a:extLst>
                </p:cNvPr>
                <p:cNvSpPr/>
                <p:nvPr/>
              </p:nvSpPr>
              <p:spPr>
                <a:xfrm>
                  <a:off x="1486016" y="1625702"/>
                  <a:ext cx="368184" cy="227468"/>
                </a:xfrm>
                <a:prstGeom prst="roundRect">
                  <a:avLst/>
                </a:prstGeom>
                <a:solidFill>
                  <a:schemeClr val="tx2">
                    <a:lumMod val="40000"/>
                    <a:lumOff val="60000"/>
                  </a:schemeClr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altLang="zh-CN" sz="110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CN" sz="11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zh-CN" sz="1100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oMath>
                    </m:oMathPara>
                  </a14:m>
                  <a:endParaRPr lang="zh-CN" altLang="en-US" sz="11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1" name="矩形: 圆角 60">
                  <a:extLst>
                    <a:ext uri="{FF2B5EF4-FFF2-40B4-BE49-F238E27FC236}">
                      <a16:creationId xmlns:a16="http://schemas.microsoft.com/office/drawing/2014/main" id="{5CF58645-706F-4C8B-BD2A-B938BAD757BD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86016" y="1625702"/>
                  <a:ext cx="368184" cy="227468"/>
                </a:xfrm>
                <a:prstGeom prst="round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矩形: 圆角 63">
                  <a:extLst>
                    <a:ext uri="{FF2B5EF4-FFF2-40B4-BE49-F238E27FC236}">
                      <a16:creationId xmlns:a16="http://schemas.microsoft.com/office/drawing/2014/main" id="{0E8C808E-2183-4B04-8B4A-FE878CD4B169}"/>
                    </a:ext>
                  </a:extLst>
                </p:cNvPr>
                <p:cNvSpPr/>
                <p:nvPr/>
              </p:nvSpPr>
              <p:spPr>
                <a:xfrm>
                  <a:off x="1530437" y="2134698"/>
                  <a:ext cx="279226" cy="178830"/>
                </a:xfrm>
                <a:prstGeom prst="roundRect">
                  <a:avLst/>
                </a:prstGeom>
                <a:solidFill>
                  <a:schemeClr val="bg2">
                    <a:lumMod val="75000"/>
                  </a:schemeClr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oMath>
                    </m:oMathPara>
                  </a14:m>
                  <a:endParaRPr lang="zh-CN" altLang="en-US" sz="7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4" name="矩形: 圆角 63">
                  <a:extLst>
                    <a:ext uri="{FF2B5EF4-FFF2-40B4-BE49-F238E27FC236}">
                      <a16:creationId xmlns:a16="http://schemas.microsoft.com/office/drawing/2014/main" id="{0E8C808E-2183-4B04-8B4A-FE878CD4B16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30437" y="2134698"/>
                  <a:ext cx="279226" cy="178830"/>
                </a:xfrm>
                <a:prstGeom prst="round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6" name="矩形: 圆角 65">
                  <a:extLst>
                    <a:ext uri="{FF2B5EF4-FFF2-40B4-BE49-F238E27FC236}">
                      <a16:creationId xmlns:a16="http://schemas.microsoft.com/office/drawing/2014/main" id="{2F46F815-2861-4FE6-A963-5730B1AA5A05}"/>
                    </a:ext>
                  </a:extLst>
                </p:cNvPr>
                <p:cNvSpPr/>
                <p:nvPr/>
              </p:nvSpPr>
              <p:spPr>
                <a:xfrm>
                  <a:off x="2044388" y="1984585"/>
                  <a:ext cx="279226" cy="178830"/>
                </a:xfrm>
                <a:prstGeom prst="roundRect">
                  <a:avLst/>
                </a:prstGeom>
                <a:solidFill>
                  <a:schemeClr val="bg2">
                    <a:lumMod val="75000"/>
                  </a:schemeClr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6" name="矩形: 圆角 65">
                  <a:extLst>
                    <a:ext uri="{FF2B5EF4-FFF2-40B4-BE49-F238E27FC236}">
                      <a16:creationId xmlns:a16="http://schemas.microsoft.com/office/drawing/2014/main" id="{2F46F815-2861-4FE6-A963-5730B1AA5A0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44388" y="1984585"/>
                  <a:ext cx="279226" cy="178830"/>
                </a:xfrm>
                <a:prstGeom prst="round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7" name="矩形: 圆角 66">
                  <a:extLst>
                    <a:ext uri="{FF2B5EF4-FFF2-40B4-BE49-F238E27FC236}">
                      <a16:creationId xmlns:a16="http://schemas.microsoft.com/office/drawing/2014/main" id="{D575960F-0F67-4A4F-9A5E-4C9B51B4B0CB}"/>
                    </a:ext>
                  </a:extLst>
                </p:cNvPr>
                <p:cNvSpPr/>
                <p:nvPr/>
              </p:nvSpPr>
              <p:spPr>
                <a:xfrm>
                  <a:off x="2528820" y="1978366"/>
                  <a:ext cx="279226" cy="178830"/>
                </a:xfrm>
                <a:prstGeom prst="roundRect">
                  <a:avLst/>
                </a:prstGeom>
                <a:solidFill>
                  <a:schemeClr val="bg2">
                    <a:lumMod val="75000"/>
                  </a:schemeClr>
                </a:solidFill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oMath>
                    </m:oMathPara>
                  </a14:m>
                  <a:endParaRPr lang="zh-CN" altLang="en-US" sz="1000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7" name="矩形: 圆角 66">
                  <a:extLst>
                    <a:ext uri="{FF2B5EF4-FFF2-40B4-BE49-F238E27FC236}">
                      <a16:creationId xmlns:a16="http://schemas.microsoft.com/office/drawing/2014/main" id="{D575960F-0F67-4A4F-9A5E-4C9B51B4B0CB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8820" y="1978366"/>
                  <a:ext cx="279226" cy="178830"/>
                </a:xfrm>
                <a:prstGeom prst="round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8" name="直接箭头连接符 67">
              <a:extLst>
                <a:ext uri="{FF2B5EF4-FFF2-40B4-BE49-F238E27FC236}">
                  <a16:creationId xmlns:a16="http://schemas.microsoft.com/office/drawing/2014/main" id="{BABDAAED-D0ED-4AA0-8EBF-CEA74AE3B46B}"/>
                </a:ext>
              </a:extLst>
            </p:cNvPr>
            <p:cNvCxnSpPr>
              <a:cxnSpLocks/>
              <a:stCxn id="64" idx="3"/>
              <a:endCxn id="66" idx="1"/>
            </p:cNvCxnSpPr>
            <p:nvPr/>
          </p:nvCxnSpPr>
          <p:spPr>
            <a:xfrm flipV="1">
              <a:off x="1809663" y="2074000"/>
              <a:ext cx="234725" cy="150113"/>
            </a:xfrm>
            <a:prstGeom prst="straightConnector1">
              <a:avLst/>
            </a:prstGeom>
            <a:ln w="127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箭头连接符 71">
              <a:extLst>
                <a:ext uri="{FF2B5EF4-FFF2-40B4-BE49-F238E27FC236}">
                  <a16:creationId xmlns:a16="http://schemas.microsoft.com/office/drawing/2014/main" id="{9FAAEED2-C275-4EED-AB29-698DA0F9DF1B}"/>
                </a:ext>
              </a:extLst>
            </p:cNvPr>
            <p:cNvCxnSpPr>
              <a:cxnSpLocks/>
              <a:stCxn id="66" idx="3"/>
              <a:endCxn id="67" idx="1"/>
            </p:cNvCxnSpPr>
            <p:nvPr/>
          </p:nvCxnSpPr>
          <p:spPr>
            <a:xfrm flipV="1">
              <a:off x="2323614" y="2067781"/>
              <a:ext cx="205206" cy="6219"/>
            </a:xfrm>
            <a:prstGeom prst="straightConnector1">
              <a:avLst/>
            </a:prstGeom>
            <a:ln w="12700">
              <a:solidFill>
                <a:schemeClr val="bg2">
                  <a:lumMod val="50000"/>
                </a:schemeClr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BEB9D6C4-8612-483C-A9F5-E0DBB8D0EFBF}"/>
                  </a:ext>
                </a:extLst>
              </p:cNvPr>
              <p:cNvSpPr txBox="1"/>
              <p:nvPr/>
            </p:nvSpPr>
            <p:spPr>
              <a:xfrm>
                <a:off x="1128396" y="1932964"/>
                <a:ext cx="290421" cy="230832"/>
              </a:xfrm>
              <a:prstGeom prst="rect">
                <a:avLst/>
              </a:prstGeom>
              <a:noFill/>
              <a:ln>
                <a:noFill/>
                <a:prstDash val="dash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900" b="1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altLang="zh-CN" sz="900" b="1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900" b="1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𝒕</m:t>
                      </m:r>
                      <m:r>
                        <a:rPr lang="en-US" altLang="zh-CN" sz="900" b="1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9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BEB9D6C4-8612-483C-A9F5-E0DBB8D0EF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8396" y="1932964"/>
                <a:ext cx="290421" cy="230832"/>
              </a:xfrm>
              <a:prstGeom prst="rect">
                <a:avLst/>
              </a:prstGeom>
              <a:blipFill>
                <a:blip r:embed="rId19"/>
                <a:stretch>
                  <a:fillRect r="-22917" b="-2632"/>
                </a:stretch>
              </a:blipFill>
              <a:ln>
                <a:noFill/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2" name="直接箭头连接符 81">
            <a:extLst>
              <a:ext uri="{FF2B5EF4-FFF2-40B4-BE49-F238E27FC236}">
                <a16:creationId xmlns:a16="http://schemas.microsoft.com/office/drawing/2014/main" id="{2F904980-4EF1-492E-A063-650D032D1C4B}"/>
              </a:ext>
            </a:extLst>
          </p:cNvPr>
          <p:cNvCxnSpPr>
            <a:cxnSpLocks/>
            <a:stCxn id="61" idx="2"/>
            <a:endCxn id="64" idx="0"/>
          </p:cNvCxnSpPr>
          <p:nvPr/>
        </p:nvCxnSpPr>
        <p:spPr>
          <a:xfrm flipH="1">
            <a:off x="1488425" y="1928671"/>
            <a:ext cx="45" cy="24086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9" name="图形 88" descr="组 纯色填充">
            <a:extLst>
              <a:ext uri="{FF2B5EF4-FFF2-40B4-BE49-F238E27FC236}">
                <a16:creationId xmlns:a16="http://schemas.microsoft.com/office/drawing/2014/main" id="{9F2BF75D-596D-4B79-9DCE-1A1855061BA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3591928" y="341084"/>
            <a:ext cx="354466" cy="354466"/>
          </a:xfrm>
          <a:prstGeom prst="rect">
            <a:avLst/>
          </a:prstGeom>
        </p:spPr>
      </p:pic>
      <p:pic>
        <p:nvPicPr>
          <p:cNvPr id="91" name="图形 90" descr="齿轮 纯色填充">
            <a:extLst>
              <a:ext uri="{FF2B5EF4-FFF2-40B4-BE49-F238E27FC236}">
                <a16:creationId xmlns:a16="http://schemas.microsoft.com/office/drawing/2014/main" id="{7562936A-1798-457B-8468-30549915E60F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2520230" y="1953012"/>
            <a:ext cx="341668" cy="341668"/>
          </a:xfrm>
          <a:prstGeom prst="rect">
            <a:avLst/>
          </a:prstGeom>
        </p:spPr>
      </p:pic>
      <p:pic>
        <p:nvPicPr>
          <p:cNvPr id="97" name="图形 96" descr="箭头: 直 纯色填充">
            <a:extLst>
              <a:ext uri="{FF2B5EF4-FFF2-40B4-BE49-F238E27FC236}">
                <a16:creationId xmlns:a16="http://schemas.microsoft.com/office/drawing/2014/main" id="{658EE301-3C6A-4F0B-BAC6-585BC5A4FB4A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rot="10800000">
            <a:off x="5469338" y="2154538"/>
            <a:ext cx="460004" cy="338801"/>
          </a:xfrm>
          <a:prstGeom prst="rect">
            <a:avLst/>
          </a:prstGeom>
        </p:spPr>
      </p:pic>
      <p:pic>
        <p:nvPicPr>
          <p:cNvPr id="99" name="图形 98" descr="箭头: 轻微弯曲 纯色填充">
            <a:extLst>
              <a:ext uri="{FF2B5EF4-FFF2-40B4-BE49-F238E27FC236}">
                <a16:creationId xmlns:a16="http://schemas.microsoft.com/office/drawing/2014/main" id="{BE5851E4-94F3-4F21-8221-1D5359976C3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 rot="893394">
            <a:off x="2391791" y="2151556"/>
            <a:ext cx="478843" cy="265775"/>
          </a:xfrm>
          <a:prstGeom prst="rect">
            <a:avLst/>
          </a:prstGeom>
        </p:spPr>
      </p:pic>
      <p:sp>
        <p:nvSpPr>
          <p:cNvPr id="85" name="文本框 84">
            <a:extLst>
              <a:ext uri="{FF2B5EF4-FFF2-40B4-BE49-F238E27FC236}">
                <a16:creationId xmlns:a16="http://schemas.microsoft.com/office/drawing/2014/main" id="{00BC64E3-2C9E-40AB-973C-689EB3CB7622}"/>
              </a:ext>
            </a:extLst>
          </p:cNvPr>
          <p:cNvSpPr txBox="1"/>
          <p:nvPr/>
        </p:nvSpPr>
        <p:spPr>
          <a:xfrm>
            <a:off x="1551070" y="2334289"/>
            <a:ext cx="118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Physics-informed</a:t>
            </a:r>
          </a:p>
          <a:p>
            <a:r>
              <a:rPr lang="en-GB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covariate-free</a:t>
            </a:r>
            <a:endParaRPr lang="zh-CN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6FBCB76-8186-49FC-BD4A-568A5BFCF6E6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932946" y="1606882"/>
            <a:ext cx="2584130" cy="1159285"/>
          </a:xfrm>
          <a:prstGeom prst="rect">
            <a:avLst/>
          </a:prstGeom>
        </p:spPr>
      </p:pic>
      <p:sp>
        <p:nvSpPr>
          <p:cNvPr id="58" name="文本框 57">
            <a:extLst>
              <a:ext uri="{FF2B5EF4-FFF2-40B4-BE49-F238E27FC236}">
                <a16:creationId xmlns:a16="http://schemas.microsoft.com/office/drawing/2014/main" id="{75BE2A20-EFE1-489C-BC0B-4E1C7887C749}"/>
              </a:ext>
            </a:extLst>
          </p:cNvPr>
          <p:cNvSpPr txBox="1"/>
          <p:nvPr/>
        </p:nvSpPr>
        <p:spPr>
          <a:xfrm>
            <a:off x="5378472" y="2387236"/>
            <a:ext cx="641428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altLang="zh-CN" sz="900" b="1" i="1" dirty="0">
                <a:latin typeface="Arial" panose="020B0604020202020204" pitchFamily="34" charset="0"/>
                <a:cs typeface="Arial" panose="020B0604020202020204" pitchFamily="34" charset="0"/>
              </a:rPr>
              <a:t>O</a:t>
            </a:r>
            <a:r>
              <a:rPr lang="en-US" altLang="zh-CN" sz="900" b="1" i="1" dirty="0" err="1">
                <a:latin typeface="Arial" panose="020B0604020202020204" pitchFamily="34" charset="0"/>
                <a:cs typeface="Arial" panose="020B0604020202020204" pitchFamily="34" charset="0"/>
              </a:rPr>
              <a:t>utput</a:t>
            </a:r>
            <a:endParaRPr lang="zh-CN" altLang="en-US" sz="900" b="1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05AD7E4-E597-4185-8F72-D5776ACB6268}"/>
                  </a:ext>
                </a:extLst>
              </p:cNvPr>
              <p:cNvSpPr txBox="1"/>
              <p:nvPr/>
            </p:nvSpPr>
            <p:spPr>
              <a:xfrm>
                <a:off x="5968514" y="2317986"/>
                <a:ext cx="1215537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900" b="1" i="1" smtClean="0">
                        <a:latin typeface="Cambria Math" panose="02040503050406030204" pitchFamily="18" charset="0"/>
                      </a:rPr>
                      <m:t>𝒇</m:t>
                    </m:r>
                    <m:d>
                      <m:dPr>
                        <m:ctrlP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900" b="1" i="1" smtClean="0"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</m:d>
                  </m:oMath>
                </a14:m>
                <a:r>
                  <a:rPr lang="zh-CN" altLang="en-US" sz="900" b="1" dirty="0"/>
                  <a:t> </a:t>
                </a:r>
                <a:r>
                  <a:rPr lang="en-US" altLang="zh-CN" sz="900" b="1" dirty="0"/>
                  <a:t>and fitted curve</a:t>
                </a:r>
                <a:endParaRPr lang="zh-CN" altLang="en-US" sz="900" b="1" dirty="0"/>
              </a:p>
              <a:p>
                <a:r>
                  <a:rPr lang="en-US" altLang="zh-CN" sz="900" b="1" dirty="0"/>
                  <a:t>for 210 waves</a:t>
                </a:r>
              </a:p>
            </p:txBody>
          </p:sp>
        </mc:Choice>
        <mc:Fallback xmlns=""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305AD7E4-E597-4185-8F72-D5776ACB62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68514" y="2317986"/>
                <a:ext cx="1215537" cy="369332"/>
              </a:xfrm>
              <a:prstGeom prst="rect">
                <a:avLst/>
              </a:prstGeom>
              <a:blipFill>
                <a:blip r:embed="rId29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4" name="图片 23">
            <a:extLst>
              <a:ext uri="{FF2B5EF4-FFF2-40B4-BE49-F238E27FC236}">
                <a16:creationId xmlns:a16="http://schemas.microsoft.com/office/drawing/2014/main" id="{B9AD5F75-01FA-4266-A234-BC39E48C2BF0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5871876" y="1687691"/>
            <a:ext cx="1427871" cy="541060"/>
          </a:xfrm>
          <a:prstGeom prst="rect">
            <a:avLst/>
          </a:prstGeom>
        </p:spPr>
      </p:pic>
      <p:pic>
        <p:nvPicPr>
          <p:cNvPr id="31" name="图片 30">
            <a:extLst>
              <a:ext uri="{FF2B5EF4-FFF2-40B4-BE49-F238E27FC236}">
                <a16:creationId xmlns:a16="http://schemas.microsoft.com/office/drawing/2014/main" id="{F13F9E09-E727-471A-9B1D-9EF63B82D981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5527186" y="3181321"/>
            <a:ext cx="1815913" cy="1182307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39" name="图片 38">
            <a:extLst>
              <a:ext uri="{FF2B5EF4-FFF2-40B4-BE49-F238E27FC236}">
                <a16:creationId xmlns:a16="http://schemas.microsoft.com/office/drawing/2014/main" id="{79A97620-F928-4B67-9AC6-77ACE148B85C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1322185" y="3095455"/>
            <a:ext cx="1657363" cy="118742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5ACC43C3-4E73-4042-BDE0-223CC67E6FA7}"/>
                  </a:ext>
                </a:extLst>
              </p:cNvPr>
              <p:cNvSpPr txBox="1"/>
              <p:nvPr/>
            </p:nvSpPr>
            <p:spPr>
              <a:xfrm>
                <a:off x="1122962" y="3081518"/>
                <a:ext cx="770861" cy="230832"/>
              </a:xfrm>
              <a:prstGeom prst="rect">
                <a:avLst/>
              </a:prstGeom>
              <a:noFill/>
              <a:ln>
                <a:noFill/>
                <a:prstDash val="dash"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sz="900" b="1" dirty="0">
                    <a:solidFill>
                      <a:schemeClr val="tx2">
                        <a:lumMod val="75000"/>
                      </a:schemeClr>
                    </a:solidFill>
                  </a:rPr>
                  <a:t>SMF -- </a:t>
                </a:r>
                <a14:m>
                  <m:oMath xmlns:m="http://schemas.openxmlformats.org/officeDocument/2006/math">
                    <m:r>
                      <a:rPr lang="en-US" altLang="zh-CN" sz="900" b="1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altLang="zh-CN" sz="900" b="1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900" b="1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𝒕</m:t>
                    </m:r>
                    <m:r>
                      <a:rPr lang="en-US" altLang="zh-CN" sz="900" b="1" i="1" dirty="0" smtClean="0">
                        <a:solidFill>
                          <a:schemeClr val="tx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zh-CN" altLang="en-US" sz="900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1" name="文本框 70">
                <a:extLst>
                  <a:ext uri="{FF2B5EF4-FFF2-40B4-BE49-F238E27FC236}">
                    <a16:creationId xmlns:a16="http://schemas.microsoft.com/office/drawing/2014/main" id="{5ACC43C3-4E73-4042-BDE0-223CC67E6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22962" y="3081518"/>
                <a:ext cx="770861" cy="230832"/>
              </a:xfrm>
              <a:prstGeom prst="rect">
                <a:avLst/>
              </a:prstGeom>
              <a:blipFill>
                <a:blip r:embed="rId33"/>
                <a:stretch>
                  <a:fillRect b="-13158"/>
                </a:stretch>
              </a:blipFill>
              <a:ln>
                <a:noFill/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DBEF0CD4-4D4E-46C5-9E89-F0E974FD9E38}"/>
                  </a:ext>
                </a:extLst>
              </p:cNvPr>
              <p:cNvSpPr txBox="1"/>
              <p:nvPr/>
            </p:nvSpPr>
            <p:spPr>
              <a:xfrm>
                <a:off x="2081394" y="3502547"/>
                <a:ext cx="871022" cy="366895"/>
              </a:xfrm>
              <a:prstGeom prst="rect">
                <a:avLst/>
              </a:prstGeom>
              <a:noFill/>
              <a:ln>
                <a:noFill/>
                <a:prstDash val="dash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800" b="1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b="1" i="1" dirty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𝒕</m:t>
                          </m:r>
                        </m:e>
                        <m:sub>
                          <m:r>
                            <a:rPr lang="en-US" altLang="zh-CN" sz="800" b="1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𝒄𝒓𝒐𝒔𝒔</m:t>
                          </m:r>
                        </m:sub>
                      </m:sSub>
                      <m:r>
                        <a:rPr lang="en-US" altLang="zh-CN" sz="800" b="1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"/>
                          <m:ctrlPr>
                            <a:rPr lang="en-US" altLang="zh-CN" sz="800" b="1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1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800" b="1" i="1" dirty="0" smtClean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800" b="1" i="1" dirty="0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800" b="1" i="1" dirty="0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𝒕</m:t>
                                    </m:r>
                                  </m:e>
                                  <m:sub>
                                    <m:r>
                                      <a:rPr lang="en-US" altLang="zh-CN" sz="800" b="1" i="1" dirty="0" smtClean="0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𝟎</m:t>
                                    </m:r>
                                  </m:sub>
                                </m:sSub>
                              </m:e>
                            </m:mr>
                            <m:mr>
                              <m:e>
                                <m:sSub>
                                  <m:sSubPr>
                                    <m:ctrlPr>
                                      <a:rPr lang="en-US" altLang="zh-CN" sz="800" b="1" i="1" dirty="0" smtClean="0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zh-CN" sz="800" b="1" i="1" dirty="0" smtClean="0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𝑻</m:t>
                                    </m:r>
                                  </m:e>
                                  <m:sub>
                                    <m:r>
                                      <a:rPr lang="zh-CN" altLang="en-US" sz="800" b="1" i="1" dirty="0" smtClean="0">
                                        <a:solidFill>
                                          <a:schemeClr val="tx2">
                                            <a:lumMod val="75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𝜺</m:t>
                                    </m:r>
                                  </m:sub>
                                </m:sSub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zh-CN" altLang="en-US" sz="900"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3" name="文本框 72">
                <a:extLst>
                  <a:ext uri="{FF2B5EF4-FFF2-40B4-BE49-F238E27FC236}">
                    <a16:creationId xmlns:a16="http://schemas.microsoft.com/office/drawing/2014/main" id="{DBEF0CD4-4D4E-46C5-9E89-F0E974FD9E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81394" y="3502547"/>
                <a:ext cx="871022" cy="366895"/>
              </a:xfrm>
              <a:prstGeom prst="rect">
                <a:avLst/>
              </a:prstGeom>
              <a:blipFill>
                <a:blip r:embed="rId34"/>
                <a:stretch>
                  <a:fillRect l="-6993" t="-163333" r="-36364" b="-240000"/>
                </a:stretch>
              </a:blipFill>
              <a:ln>
                <a:noFill/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BB5130BB-99A0-43C5-9EA4-FF176B0E8996}"/>
              </a:ext>
            </a:extLst>
          </p:cNvPr>
          <p:cNvCxnSpPr>
            <a:cxnSpLocks/>
          </p:cNvCxnSpPr>
          <p:nvPr/>
        </p:nvCxnSpPr>
        <p:spPr>
          <a:xfrm>
            <a:off x="1999074" y="3495160"/>
            <a:ext cx="191608" cy="388018"/>
          </a:xfrm>
          <a:prstGeom prst="line">
            <a:avLst/>
          </a:prstGeom>
          <a:ln w="1651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50A412CD-0AD6-48EC-B968-FCE48C4EBB15}"/>
                  </a:ext>
                </a:extLst>
              </p:cNvPr>
              <p:cNvSpPr txBox="1"/>
              <p:nvPr/>
            </p:nvSpPr>
            <p:spPr>
              <a:xfrm>
                <a:off x="2106135" y="3216062"/>
                <a:ext cx="1356917" cy="397929"/>
              </a:xfrm>
              <a:prstGeom prst="rect">
                <a:avLst/>
              </a:prstGeom>
              <a:noFill/>
              <a:ln>
                <a:noFill/>
                <a:prstDash val="dash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sz="800" b="1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800" i="1">
                              <a:latin typeface="Cambria Math" panose="02040503050406030204" pitchFamily="18" charset="0"/>
                            </a:rPr>
                            <m:t>𝜅</m:t>
                          </m:r>
                        </m:e>
                        <m:sub>
                          <m:r>
                            <a:rPr lang="en-US" altLang="zh-CN" sz="800" b="1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𝒄𝒓𝒐𝒔𝒔</m:t>
                          </m:r>
                        </m:sub>
                      </m:sSub>
                      <m:r>
                        <a:rPr lang="en-US" altLang="zh-CN" sz="800" b="1" i="1" dirty="0" smtClean="0">
                          <a:solidFill>
                            <a:schemeClr val="tx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CN" sz="800" b="1" i="1" dirty="0" smtClean="0">
                              <a:solidFill>
                                <a:schemeClr val="tx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altLang="zh-CN" sz="800" b="1" i="1" dirty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altLang="zh-CN" sz="800" b="1" i="1" dirty="0">
                                      <a:solidFill>
                                        <a:schemeClr val="tx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800" b="1" i="1" dirty="0">
                                      <a:solidFill>
                                        <a:schemeClr val="tx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𝒅</m:t>
                                  </m:r>
                                  <m:r>
                                    <a:rPr lang="en-US" altLang="zh-CN" sz="800" b="1" i="1" dirty="0" smtClean="0">
                                      <a:solidFill>
                                        <a:schemeClr val="tx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𝒇</m:t>
                                  </m:r>
                                </m:num>
                                <m:den>
                                  <m:r>
                                    <a:rPr lang="en-US" altLang="zh-CN" sz="800" b="1" i="1" dirty="0">
                                      <a:solidFill>
                                        <a:schemeClr val="tx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𝒅𝒕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altLang="zh-CN" sz="800" b="1" i="1" dirty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800" b="1" i="1" dirty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𝒕</m:t>
                              </m:r>
                            </m:e>
                            <m:sub>
                              <m:r>
                                <a:rPr lang="en-US" altLang="zh-CN" sz="800" b="1" i="1" dirty="0">
                                  <a:solidFill>
                                    <a:schemeClr val="tx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  <m:t>𝒄𝒓𝒐𝒔𝒔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zh-CN" altLang="en-US" sz="900"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50A412CD-0AD6-48EC-B968-FCE48C4EBB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06135" y="3216062"/>
                <a:ext cx="1356917" cy="397929"/>
              </a:xfrm>
              <a:prstGeom prst="rect">
                <a:avLst/>
              </a:prstGeom>
              <a:blipFill>
                <a:blip r:embed="rId35"/>
                <a:stretch>
                  <a:fillRect t="-150769" b="-213846"/>
                </a:stretch>
              </a:blipFill>
              <a:ln>
                <a:noFill/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直接连接符 80">
            <a:extLst>
              <a:ext uri="{FF2B5EF4-FFF2-40B4-BE49-F238E27FC236}">
                <a16:creationId xmlns:a16="http://schemas.microsoft.com/office/drawing/2014/main" id="{292FE9B8-B984-44F8-9045-40829BEF0E3D}"/>
              </a:ext>
            </a:extLst>
          </p:cNvPr>
          <p:cNvCxnSpPr>
            <a:cxnSpLocks/>
          </p:cNvCxnSpPr>
          <p:nvPr/>
        </p:nvCxnSpPr>
        <p:spPr>
          <a:xfrm flipH="1">
            <a:off x="1572494" y="3245488"/>
            <a:ext cx="283332" cy="424674"/>
          </a:xfrm>
          <a:prstGeom prst="line">
            <a:avLst/>
          </a:prstGeom>
          <a:ln w="1651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D478336F-B6B8-427D-AA9F-29DCDF1A2D9E}"/>
                  </a:ext>
                </a:extLst>
              </p:cNvPr>
              <p:cNvSpPr txBox="1"/>
              <p:nvPr/>
            </p:nvSpPr>
            <p:spPr>
              <a:xfrm>
                <a:off x="1237597" y="3880081"/>
                <a:ext cx="471359" cy="225062"/>
              </a:xfrm>
              <a:prstGeom prst="rect">
                <a:avLst/>
              </a:prstGeom>
              <a:noFill/>
              <a:ln>
                <a:noFill/>
                <a:prstDash val="dash"/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zh-CN" sz="8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zh-CN" sz="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altLang="zh-CN" sz="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𝑖𝑛𝑐</m:t>
                          </m:r>
                          <m:r>
                            <a:rPr lang="en-US" altLang="zh-CN" sz="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zh-CN" sz="800" i="1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𝑠𝑙𝑜𝑝𝑒</m:t>
                          </m:r>
                        </m:sub>
                      </m:sSub>
                    </m:oMath>
                  </m:oMathPara>
                </a14:m>
                <a:endParaRPr lang="zh-CN" altLang="en-US" sz="900" b="1" dirty="0">
                  <a:solidFill>
                    <a:schemeClr val="tx2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D478336F-B6B8-427D-AA9F-29DCDF1A2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7597" y="3880081"/>
                <a:ext cx="471359" cy="225062"/>
              </a:xfrm>
              <a:prstGeom prst="rect">
                <a:avLst/>
              </a:prstGeom>
              <a:blipFill>
                <a:blip r:embed="rId36"/>
                <a:stretch>
                  <a:fillRect r="-12987"/>
                </a:stretch>
              </a:blipFill>
              <a:ln>
                <a:noFill/>
                <a:prstDash val="dash"/>
              </a:ln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571CC18D-EEDD-4FED-A89B-6C703F72B77E}"/>
              </a:ext>
            </a:extLst>
          </p:cNvPr>
          <p:cNvCxnSpPr>
            <a:cxnSpLocks/>
          </p:cNvCxnSpPr>
          <p:nvPr/>
        </p:nvCxnSpPr>
        <p:spPr>
          <a:xfrm>
            <a:off x="1715742" y="3439649"/>
            <a:ext cx="0" cy="588195"/>
          </a:xfrm>
          <a:prstGeom prst="line">
            <a:avLst/>
          </a:prstGeom>
          <a:ln w="635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矩形 78">
            <a:extLst>
              <a:ext uri="{FF2B5EF4-FFF2-40B4-BE49-F238E27FC236}">
                <a16:creationId xmlns:a16="http://schemas.microsoft.com/office/drawing/2014/main" id="{0BA157CF-10CB-4B26-88F9-213921E81A6C}"/>
              </a:ext>
            </a:extLst>
          </p:cNvPr>
          <p:cNvSpPr/>
          <p:nvPr/>
        </p:nvSpPr>
        <p:spPr>
          <a:xfrm>
            <a:off x="1302958" y="3689169"/>
            <a:ext cx="1676590" cy="139566"/>
          </a:xfrm>
          <a:prstGeom prst="rect">
            <a:avLst/>
          </a:prstGeom>
          <a:solidFill>
            <a:schemeClr val="accent1">
              <a:lumMod val="20000"/>
              <a:lumOff val="80000"/>
              <a:alpha val="1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0F50F0AB-3475-47FB-9127-166AF048FB75}"/>
                  </a:ext>
                </a:extLst>
              </p:cNvPr>
              <p:cNvSpPr txBox="1"/>
              <p:nvPr/>
            </p:nvSpPr>
            <p:spPr>
              <a:xfrm>
                <a:off x="1691124" y="3840705"/>
                <a:ext cx="354593" cy="2253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8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8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800" i="1">
                              <a:latin typeface="Cambria Math" panose="02040503050406030204" pitchFamily="18" charset="0"/>
                            </a:rPr>
                            <m:t>𝑚𝑎𝑥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0F50F0AB-3475-47FB-9127-166AF048FB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91124" y="3840705"/>
                <a:ext cx="354593" cy="225383"/>
              </a:xfrm>
              <a:prstGeom prst="rect">
                <a:avLst/>
              </a:prstGeom>
              <a:blipFill>
                <a:blip r:embed="rId37"/>
                <a:stretch>
                  <a:fillRect r="-169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3" name="直接连接符 92">
            <a:extLst>
              <a:ext uri="{FF2B5EF4-FFF2-40B4-BE49-F238E27FC236}">
                <a16:creationId xmlns:a16="http://schemas.microsoft.com/office/drawing/2014/main" id="{90AD7A4F-833F-40F4-8ACA-5EC6A856A9CD}"/>
              </a:ext>
            </a:extLst>
          </p:cNvPr>
          <p:cNvCxnSpPr>
            <a:cxnSpLocks/>
          </p:cNvCxnSpPr>
          <p:nvPr/>
        </p:nvCxnSpPr>
        <p:spPr>
          <a:xfrm>
            <a:off x="1863408" y="3145957"/>
            <a:ext cx="0" cy="806572"/>
          </a:xfrm>
          <a:prstGeom prst="line">
            <a:avLst/>
          </a:prstGeom>
          <a:ln w="635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接连接符 93">
            <a:extLst>
              <a:ext uri="{FF2B5EF4-FFF2-40B4-BE49-F238E27FC236}">
                <a16:creationId xmlns:a16="http://schemas.microsoft.com/office/drawing/2014/main" id="{25E35FD6-9F90-435C-B560-63CE3F5A4AE9}"/>
              </a:ext>
            </a:extLst>
          </p:cNvPr>
          <p:cNvCxnSpPr>
            <a:cxnSpLocks/>
          </p:cNvCxnSpPr>
          <p:nvPr/>
        </p:nvCxnSpPr>
        <p:spPr>
          <a:xfrm>
            <a:off x="2275551" y="3765300"/>
            <a:ext cx="0" cy="438279"/>
          </a:xfrm>
          <a:prstGeom prst="line">
            <a:avLst/>
          </a:prstGeom>
          <a:ln w="635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3608EEBE-64C5-426E-AA53-95B51B523FCD}"/>
                  </a:ext>
                </a:extLst>
              </p:cNvPr>
              <p:cNvSpPr txBox="1"/>
              <p:nvPr/>
            </p:nvSpPr>
            <p:spPr>
              <a:xfrm>
                <a:off x="2272610" y="4105143"/>
                <a:ext cx="354593" cy="2253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zh-CN" altLang="en-US" sz="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CN" altLang="en-US" sz="800" i="1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zh-CN" altLang="en-US" sz="800" i="1">
                              <a:latin typeface="Cambria Math" panose="02040503050406030204" pitchFamily="18" charset="0"/>
                            </a:rPr>
                            <m:t>𝑓</m:t>
                          </m:r>
                          <m:r>
                            <a:rPr lang="zh-CN" altLang="en-US" sz="800" i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zh-CN" altLang="en-US" sz="800" i="1">
                              <a:latin typeface="Cambria Math" panose="02040503050406030204" pitchFamily="18" charset="0"/>
                            </a:rPr>
                            <m:t>𝑚</m:t>
                          </m:r>
                          <m:r>
                            <a:rPr lang="en-US" altLang="zh-CN" sz="800" b="0" i="1" smtClean="0">
                              <a:latin typeface="Cambria Math" panose="02040503050406030204" pitchFamily="18" charset="0"/>
                            </a:rPr>
                            <m:t>𝑖𝑛</m:t>
                          </m:r>
                        </m:sub>
                      </m:sSub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3608EEBE-64C5-426E-AA53-95B51B523F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72610" y="4105143"/>
                <a:ext cx="354593" cy="225383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右大括号 104">
            <a:extLst>
              <a:ext uri="{FF2B5EF4-FFF2-40B4-BE49-F238E27FC236}">
                <a16:creationId xmlns:a16="http://schemas.microsoft.com/office/drawing/2014/main" id="{36A1B14E-4EF1-4105-A3C2-9DE1006E352E}"/>
              </a:ext>
            </a:extLst>
          </p:cNvPr>
          <p:cNvSpPr/>
          <p:nvPr/>
        </p:nvSpPr>
        <p:spPr>
          <a:xfrm>
            <a:off x="3025091" y="3689169"/>
            <a:ext cx="90122" cy="151536"/>
          </a:xfrm>
          <a:prstGeom prst="rightBrace">
            <a:avLst/>
          </a:prstGeom>
          <a:ln w="63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1477D7D3-2801-46EB-9811-6521068B9B34}"/>
                  </a:ext>
                </a:extLst>
              </p:cNvPr>
              <p:cNvSpPr txBox="1"/>
              <p:nvPr/>
            </p:nvSpPr>
            <p:spPr>
              <a:xfrm>
                <a:off x="2739627" y="3854642"/>
                <a:ext cx="681234" cy="305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zh-CN" sz="7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near</m:t>
                      </m:r>
                      <m:r>
                        <m:rPr>
                          <m:nor/>
                        </m:rPr>
                        <a:rPr lang="en-US" altLang="zh-CN" sz="7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−</m:t>
                      </m:r>
                      <m:r>
                        <m:rPr>
                          <m:nor/>
                        </m:rPr>
                        <a:rPr lang="en-US" altLang="zh-CN" sz="7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zero</m:t>
                      </m:r>
                      <m:r>
                        <m:rPr>
                          <m:nor/>
                        </m:rPr>
                        <a:rPr lang="en-US" altLang="zh-CN" sz="7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zh-CN" sz="7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m:t>threshold</m:t>
                      </m:r>
                    </m:oMath>
                  </m:oMathPara>
                </a14:m>
                <a:endParaRPr lang="zh-CN" altLang="en-US" sz="160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06" name="文本框 105">
                <a:extLst>
                  <a:ext uri="{FF2B5EF4-FFF2-40B4-BE49-F238E27FC236}">
                    <a16:creationId xmlns:a16="http://schemas.microsoft.com/office/drawing/2014/main" id="{1477D7D3-2801-46EB-9811-6521068B9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39627" y="3854642"/>
                <a:ext cx="681234" cy="305276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27016BA9-4CA0-4F02-8FC1-519EAB92F284}"/>
                  </a:ext>
                </a:extLst>
              </p:cNvPr>
              <p:cNvSpPr txBox="1"/>
              <p:nvPr/>
            </p:nvSpPr>
            <p:spPr>
              <a:xfrm>
                <a:off x="2122663" y="3045488"/>
                <a:ext cx="1298198" cy="22525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zh-CN" altLang="en-US" sz="8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sz="800">
                            <a:latin typeface="Cambria Math" panose="02040503050406030204" pitchFamily="18" charset="0"/>
                          </a:rPr>
                          <m:t>∆</m:t>
                        </m:r>
                      </m:e>
                      <m:sub>
                        <m:r>
                          <a:rPr lang="zh-CN" altLang="en-US" sz="800" i="1">
                            <a:latin typeface="Cambria Math" panose="02040503050406030204" pitchFamily="18" charset="0"/>
                          </a:rPr>
                          <m:t>𝑒𝑎𝑟𝑙𝑦</m:t>
                        </m:r>
                      </m:sub>
                    </m:sSub>
                    <m:r>
                      <a:rPr lang="zh-CN" altLang="en-US" sz="800" i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zh-CN" sz="800" b="1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800" b="1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𝒕</m:t>
                        </m:r>
                      </m:e>
                      <m:sub>
                        <m:r>
                          <a:rPr lang="en-US" altLang="zh-CN" sz="800" b="1" i="1" dirty="0">
                            <a:solidFill>
                              <a:schemeClr val="tx2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𝒄𝒓𝒐𝒔𝒔</m:t>
                        </m:r>
                      </m:sub>
                    </m:sSub>
                  </m:oMath>
                </a14:m>
                <a:r>
                  <a:rPr lang="en-US" altLang="zh-CN" sz="800" dirty="0"/>
                  <a:t>-</a:t>
                </a:r>
                <a:r>
                  <a:rPr lang="zh-CN" altLang="zh-CN" sz="8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zh-CN" altLang="zh-CN" sz="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sz="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zh-CN" sz="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𝑖𝑛𝑐</m:t>
                        </m:r>
                        <m:r>
                          <a:rPr lang="en-US" altLang="zh-CN" sz="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−</m:t>
                        </m:r>
                        <m:r>
                          <a:rPr lang="en-US" altLang="zh-CN" sz="8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𝑠𝑙𝑜𝑝𝑒</m:t>
                        </m:r>
                      </m:sub>
                    </m:sSub>
                  </m:oMath>
                </a14:m>
                <a:endParaRPr lang="zh-CN" altLang="en-US" sz="800" dirty="0"/>
              </a:p>
            </p:txBody>
          </p:sp>
        </mc:Choice>
        <mc:Fallback xmlns="">
          <p:sp>
            <p:nvSpPr>
              <p:cNvPr id="108" name="文本框 107">
                <a:extLst>
                  <a:ext uri="{FF2B5EF4-FFF2-40B4-BE49-F238E27FC236}">
                    <a16:creationId xmlns:a16="http://schemas.microsoft.com/office/drawing/2014/main" id="{27016BA9-4CA0-4F02-8FC1-519EAB92F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2663" y="3045488"/>
                <a:ext cx="1298198" cy="225254"/>
              </a:xfrm>
              <a:prstGeom prst="rect">
                <a:avLst/>
              </a:prstGeom>
              <a:blipFill>
                <a:blip r:embed="rId40"/>
                <a:stretch>
                  <a:fillRect b="-540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文本框 112">
            <a:extLst>
              <a:ext uri="{FF2B5EF4-FFF2-40B4-BE49-F238E27FC236}">
                <a16:creationId xmlns:a16="http://schemas.microsoft.com/office/drawing/2014/main" id="{6C7D5F13-5E64-4F35-B0B5-E48F2E8E18E1}"/>
              </a:ext>
            </a:extLst>
          </p:cNvPr>
          <p:cNvSpPr txBox="1"/>
          <p:nvPr/>
        </p:nvSpPr>
        <p:spPr>
          <a:xfrm>
            <a:off x="3610278" y="3075064"/>
            <a:ext cx="1888049" cy="2308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FPCA and prototype clustering</a:t>
            </a:r>
            <a:endParaRPr lang="zh-CN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DE322886-0471-4CF4-9BD8-9E571750466E}"/>
              </a:ext>
            </a:extLst>
          </p:cNvPr>
          <p:cNvSpPr txBox="1"/>
          <p:nvPr/>
        </p:nvSpPr>
        <p:spPr>
          <a:xfrm>
            <a:off x="5565909" y="3083125"/>
            <a:ext cx="104821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fast-rise/fast-decay</a:t>
            </a:r>
            <a:endParaRPr lang="zh-CN" alt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5" name="文本框 114">
            <a:extLst>
              <a:ext uri="{FF2B5EF4-FFF2-40B4-BE49-F238E27FC236}">
                <a16:creationId xmlns:a16="http://schemas.microsoft.com/office/drawing/2014/main" id="{1731ACEA-E928-406E-A6AF-636BB0B7BCE3}"/>
              </a:ext>
            </a:extLst>
          </p:cNvPr>
          <p:cNvSpPr txBox="1"/>
          <p:nvPr/>
        </p:nvSpPr>
        <p:spPr>
          <a:xfrm>
            <a:off x="6530394" y="3090217"/>
            <a:ext cx="8181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steady/steady</a:t>
            </a:r>
            <a:endParaRPr lang="zh-CN" alt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文本框 115">
            <a:extLst>
              <a:ext uri="{FF2B5EF4-FFF2-40B4-BE49-F238E27FC236}">
                <a16:creationId xmlns:a16="http://schemas.microsoft.com/office/drawing/2014/main" id="{DEB5DBD0-E405-4141-A1C9-FA62094CAF73}"/>
              </a:ext>
            </a:extLst>
          </p:cNvPr>
          <p:cNvSpPr txBox="1"/>
          <p:nvPr/>
        </p:nvSpPr>
        <p:spPr>
          <a:xfrm>
            <a:off x="6315131" y="3727502"/>
            <a:ext cx="10932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multi-wave rebound</a:t>
            </a:r>
            <a:endParaRPr lang="zh-CN" alt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7" name="文本框 116">
            <a:extLst>
              <a:ext uri="{FF2B5EF4-FFF2-40B4-BE49-F238E27FC236}">
                <a16:creationId xmlns:a16="http://schemas.microsoft.com/office/drawing/2014/main" id="{39E817AF-D832-418D-BD4C-874743E91B04}"/>
              </a:ext>
            </a:extLst>
          </p:cNvPr>
          <p:cNvSpPr txBox="1"/>
          <p:nvPr/>
        </p:nvSpPr>
        <p:spPr>
          <a:xfrm>
            <a:off x="5609938" y="3727502"/>
            <a:ext cx="67450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b="1" dirty="0">
                <a:effectLst/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slow/slow</a:t>
            </a:r>
            <a:endParaRPr lang="zh-CN" altLang="en-US" sz="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0" name="图形 119" descr="箭头: 直 纯色填充">
            <a:extLst>
              <a:ext uri="{FF2B5EF4-FFF2-40B4-BE49-F238E27FC236}">
                <a16:creationId xmlns:a16="http://schemas.microsoft.com/office/drawing/2014/main" id="{7B192E9E-DEF1-4068-92B7-B3701C3441F6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 rot="10800000">
            <a:off x="3528526" y="3587194"/>
            <a:ext cx="460004" cy="338801"/>
          </a:xfrm>
          <a:prstGeom prst="rect">
            <a:avLst/>
          </a:prstGeom>
        </p:spPr>
      </p:pic>
      <p:grpSp>
        <p:nvGrpSpPr>
          <p:cNvPr id="147" name="组合 146">
            <a:extLst>
              <a:ext uri="{FF2B5EF4-FFF2-40B4-BE49-F238E27FC236}">
                <a16:creationId xmlns:a16="http://schemas.microsoft.com/office/drawing/2014/main" id="{3C732195-299B-4ED6-999F-EFFAEBED4FF0}"/>
              </a:ext>
            </a:extLst>
          </p:cNvPr>
          <p:cNvGrpSpPr/>
          <p:nvPr/>
        </p:nvGrpSpPr>
        <p:grpSpPr>
          <a:xfrm>
            <a:off x="1113825" y="4741239"/>
            <a:ext cx="1111851" cy="840688"/>
            <a:chOff x="1211697" y="4711983"/>
            <a:chExt cx="1111851" cy="840688"/>
          </a:xfrm>
        </p:grpSpPr>
        <p:grpSp>
          <p:nvGrpSpPr>
            <p:cNvPr id="145" name="组合 144">
              <a:extLst>
                <a:ext uri="{FF2B5EF4-FFF2-40B4-BE49-F238E27FC236}">
                  <a16:creationId xmlns:a16="http://schemas.microsoft.com/office/drawing/2014/main" id="{BF26F88B-3D53-4FCA-9801-EAADD8AE805D}"/>
                </a:ext>
              </a:extLst>
            </p:cNvPr>
            <p:cNvGrpSpPr/>
            <p:nvPr/>
          </p:nvGrpSpPr>
          <p:grpSpPr>
            <a:xfrm>
              <a:off x="1211697" y="4788191"/>
              <a:ext cx="1111851" cy="764480"/>
              <a:chOff x="932787" y="4763900"/>
              <a:chExt cx="1111851" cy="764480"/>
            </a:xfrm>
          </p:grpSpPr>
          <p:grpSp>
            <p:nvGrpSpPr>
              <p:cNvPr id="141" name="组合 140">
                <a:extLst>
                  <a:ext uri="{FF2B5EF4-FFF2-40B4-BE49-F238E27FC236}">
                    <a16:creationId xmlns:a16="http://schemas.microsoft.com/office/drawing/2014/main" id="{E3A22B5A-3973-4DE2-992D-AEA1A0556532}"/>
                  </a:ext>
                </a:extLst>
              </p:cNvPr>
              <p:cNvGrpSpPr/>
              <p:nvPr/>
            </p:nvGrpSpPr>
            <p:grpSpPr>
              <a:xfrm>
                <a:off x="932787" y="4900975"/>
                <a:ext cx="914589" cy="230832"/>
                <a:chOff x="1933494" y="4920898"/>
                <a:chExt cx="914589" cy="230832"/>
              </a:xfrm>
            </p:grpSpPr>
            <p:sp>
              <p:nvSpPr>
                <p:cNvPr id="132" name="c_icon_Climate">
                  <a:extLst>
                    <a:ext uri="{FF2B5EF4-FFF2-40B4-BE49-F238E27FC236}">
                      <a16:creationId xmlns:a16="http://schemas.microsoft.com/office/drawing/2014/main" id="{B40A02DD-2A65-4352-A9A4-4EC27B5520FF}"/>
                    </a:ext>
                  </a:extLst>
                </p:cNvPr>
                <p:cNvSpPr/>
                <p:nvPr/>
              </p:nvSpPr>
              <p:spPr>
                <a:xfrm>
                  <a:off x="2116954" y="4959714"/>
                  <a:ext cx="554002" cy="141442"/>
                </a:xfrm>
                <a:prstGeom prst="roundRect">
                  <a:avLst/>
                </a:prstGeom>
                <a:solidFill>
                  <a:srgbClr val="FFFFFF"/>
                </a:solidFill>
                <a:ln w="12700">
                  <a:solidFill>
                    <a:srgbClr val="C8CDD2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9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5" name="文本框 134">
                  <a:extLst>
                    <a:ext uri="{FF2B5EF4-FFF2-40B4-BE49-F238E27FC236}">
                      <a16:creationId xmlns:a16="http://schemas.microsoft.com/office/drawing/2014/main" id="{9DF08C84-127F-4256-BA57-151D71F6C7F4}"/>
                    </a:ext>
                  </a:extLst>
                </p:cNvPr>
                <p:cNvSpPr txBox="1"/>
                <p:nvPr/>
              </p:nvSpPr>
              <p:spPr>
                <a:xfrm>
                  <a:off x="1933494" y="4920898"/>
                  <a:ext cx="914589" cy="2308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altLang="zh-CN" sz="9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Mobility</a:t>
                  </a:r>
                </a:p>
              </p:txBody>
            </p:sp>
          </p:grpSp>
          <p:grpSp>
            <p:nvGrpSpPr>
              <p:cNvPr id="137" name="组合 136">
                <a:extLst>
                  <a:ext uri="{FF2B5EF4-FFF2-40B4-BE49-F238E27FC236}">
                    <a16:creationId xmlns:a16="http://schemas.microsoft.com/office/drawing/2014/main" id="{9C4C28DB-F5F0-4212-9AFB-98353ECF9B11}"/>
                  </a:ext>
                </a:extLst>
              </p:cNvPr>
              <p:cNvGrpSpPr/>
              <p:nvPr/>
            </p:nvGrpSpPr>
            <p:grpSpPr>
              <a:xfrm>
                <a:off x="1046525" y="5297548"/>
                <a:ext cx="687112" cy="230832"/>
                <a:chOff x="1071727" y="4603973"/>
                <a:chExt cx="687112" cy="230832"/>
              </a:xfrm>
            </p:grpSpPr>
            <p:sp>
              <p:nvSpPr>
                <p:cNvPr id="123" name="c_icon_Climate">
                  <a:extLst>
                    <a:ext uri="{FF2B5EF4-FFF2-40B4-BE49-F238E27FC236}">
                      <a16:creationId xmlns:a16="http://schemas.microsoft.com/office/drawing/2014/main" id="{096A9B8E-9443-43C9-8727-1A44B6D6F4DF}"/>
                    </a:ext>
                  </a:extLst>
                </p:cNvPr>
                <p:cNvSpPr/>
                <p:nvPr/>
              </p:nvSpPr>
              <p:spPr>
                <a:xfrm>
                  <a:off x="1150994" y="4641260"/>
                  <a:ext cx="554002" cy="141442"/>
                </a:xfrm>
                <a:prstGeom prst="roundRect">
                  <a:avLst/>
                </a:prstGeom>
                <a:solidFill>
                  <a:srgbClr val="FFFFFF"/>
                </a:solidFill>
                <a:ln w="12700">
                  <a:solidFill>
                    <a:srgbClr val="C8CDD2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9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7" name="文本框 126">
                  <a:extLst>
                    <a:ext uri="{FF2B5EF4-FFF2-40B4-BE49-F238E27FC236}">
                      <a16:creationId xmlns:a16="http://schemas.microsoft.com/office/drawing/2014/main" id="{1E311953-8AFB-421D-ABE2-01AE8A382A43}"/>
                    </a:ext>
                  </a:extLst>
                </p:cNvPr>
                <p:cNvSpPr txBox="1"/>
                <p:nvPr/>
              </p:nvSpPr>
              <p:spPr>
                <a:xfrm>
                  <a:off x="1071727" y="4603973"/>
                  <a:ext cx="687112" cy="2308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altLang="zh-CN" sz="9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Tourism</a:t>
                  </a:r>
                </a:p>
              </p:txBody>
            </p:sp>
          </p:grpSp>
          <p:grpSp>
            <p:nvGrpSpPr>
              <p:cNvPr id="139" name="组合 138">
                <a:extLst>
                  <a:ext uri="{FF2B5EF4-FFF2-40B4-BE49-F238E27FC236}">
                    <a16:creationId xmlns:a16="http://schemas.microsoft.com/office/drawing/2014/main" id="{4AA790D5-C173-4E03-B10C-8E62F9A875AE}"/>
                  </a:ext>
                </a:extLst>
              </p:cNvPr>
              <p:cNvGrpSpPr/>
              <p:nvPr/>
            </p:nvGrpSpPr>
            <p:grpSpPr>
              <a:xfrm>
                <a:off x="1230296" y="5180475"/>
                <a:ext cx="756603" cy="230832"/>
                <a:chOff x="2313549" y="4594992"/>
                <a:chExt cx="756603" cy="230832"/>
              </a:xfrm>
            </p:grpSpPr>
            <p:sp>
              <p:nvSpPr>
                <p:cNvPr id="125" name="c_icon_Climate">
                  <a:extLst>
                    <a:ext uri="{FF2B5EF4-FFF2-40B4-BE49-F238E27FC236}">
                      <a16:creationId xmlns:a16="http://schemas.microsoft.com/office/drawing/2014/main" id="{1349D787-36B6-40C5-9404-A299E340E635}"/>
                    </a:ext>
                  </a:extLst>
                </p:cNvPr>
                <p:cNvSpPr/>
                <p:nvPr/>
              </p:nvSpPr>
              <p:spPr>
                <a:xfrm>
                  <a:off x="2414326" y="4649678"/>
                  <a:ext cx="554002" cy="141442"/>
                </a:xfrm>
                <a:prstGeom prst="roundRect">
                  <a:avLst/>
                </a:prstGeom>
                <a:solidFill>
                  <a:srgbClr val="FFFFFF"/>
                </a:solidFill>
                <a:ln w="12700">
                  <a:solidFill>
                    <a:srgbClr val="C8CDD2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9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29" name="文本框 128">
                  <a:extLst>
                    <a:ext uri="{FF2B5EF4-FFF2-40B4-BE49-F238E27FC236}">
                      <a16:creationId xmlns:a16="http://schemas.microsoft.com/office/drawing/2014/main" id="{626937D9-344C-45A5-974D-5D743FFA8D93}"/>
                    </a:ext>
                  </a:extLst>
                </p:cNvPr>
                <p:cNvSpPr txBox="1"/>
                <p:nvPr/>
              </p:nvSpPr>
              <p:spPr>
                <a:xfrm>
                  <a:off x="2313549" y="4594992"/>
                  <a:ext cx="756603" cy="2308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altLang="zh-CN" sz="9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Healthcare</a:t>
                  </a:r>
                </a:p>
              </p:txBody>
            </p:sp>
          </p:grpSp>
          <p:grpSp>
            <p:nvGrpSpPr>
              <p:cNvPr id="142" name="组合 141">
                <a:extLst>
                  <a:ext uri="{FF2B5EF4-FFF2-40B4-BE49-F238E27FC236}">
                    <a16:creationId xmlns:a16="http://schemas.microsoft.com/office/drawing/2014/main" id="{043523D9-3655-4033-A2B2-45EFE63EC553}"/>
                  </a:ext>
                </a:extLst>
              </p:cNvPr>
              <p:cNvGrpSpPr/>
              <p:nvPr/>
            </p:nvGrpSpPr>
            <p:grpSpPr>
              <a:xfrm>
                <a:off x="1130049" y="4763900"/>
                <a:ext cx="914589" cy="230832"/>
                <a:chOff x="2567796" y="4920899"/>
                <a:chExt cx="914589" cy="230832"/>
              </a:xfrm>
            </p:grpSpPr>
            <p:sp>
              <p:nvSpPr>
                <p:cNvPr id="133" name="c_icon_Climate">
                  <a:extLst>
                    <a:ext uri="{FF2B5EF4-FFF2-40B4-BE49-F238E27FC236}">
                      <a16:creationId xmlns:a16="http://schemas.microsoft.com/office/drawing/2014/main" id="{020A5983-DEE8-40AB-AD51-B0468E889CE1}"/>
                    </a:ext>
                  </a:extLst>
                </p:cNvPr>
                <p:cNvSpPr/>
                <p:nvPr/>
              </p:nvSpPr>
              <p:spPr>
                <a:xfrm>
                  <a:off x="2760522" y="4963429"/>
                  <a:ext cx="554002" cy="141442"/>
                </a:xfrm>
                <a:prstGeom prst="roundRect">
                  <a:avLst/>
                </a:prstGeom>
                <a:solidFill>
                  <a:srgbClr val="FFFFFF"/>
                </a:solidFill>
                <a:ln w="12700">
                  <a:solidFill>
                    <a:srgbClr val="C8CDD2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9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6" name="文本框 135">
                  <a:extLst>
                    <a:ext uri="{FF2B5EF4-FFF2-40B4-BE49-F238E27FC236}">
                      <a16:creationId xmlns:a16="http://schemas.microsoft.com/office/drawing/2014/main" id="{987536A5-4527-4BF4-88A2-60109CF0445C}"/>
                    </a:ext>
                  </a:extLst>
                </p:cNvPr>
                <p:cNvSpPr txBox="1"/>
                <p:nvPr/>
              </p:nvSpPr>
              <p:spPr>
                <a:xfrm>
                  <a:off x="2567796" y="4920899"/>
                  <a:ext cx="914589" cy="2308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altLang="zh-CN" sz="9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Population</a:t>
                  </a:r>
                </a:p>
              </p:txBody>
            </p:sp>
          </p:grpSp>
          <p:grpSp>
            <p:nvGrpSpPr>
              <p:cNvPr id="143" name="组合 142">
                <a:extLst>
                  <a:ext uri="{FF2B5EF4-FFF2-40B4-BE49-F238E27FC236}">
                    <a16:creationId xmlns:a16="http://schemas.microsoft.com/office/drawing/2014/main" id="{CD02E5BF-14FE-43F8-ACE9-00BE1304B70E}"/>
                  </a:ext>
                </a:extLst>
              </p:cNvPr>
              <p:cNvGrpSpPr/>
              <p:nvPr/>
            </p:nvGrpSpPr>
            <p:grpSpPr>
              <a:xfrm>
                <a:off x="1227549" y="4980739"/>
                <a:ext cx="778432" cy="230832"/>
                <a:chOff x="2932946" y="4594992"/>
                <a:chExt cx="778432" cy="230832"/>
              </a:xfrm>
            </p:grpSpPr>
            <p:sp>
              <p:nvSpPr>
                <p:cNvPr id="126" name="c_icon_Climate">
                  <a:extLst>
                    <a:ext uri="{FF2B5EF4-FFF2-40B4-BE49-F238E27FC236}">
                      <a16:creationId xmlns:a16="http://schemas.microsoft.com/office/drawing/2014/main" id="{4636FE36-F580-48F2-8BD5-A412E608800C}"/>
                    </a:ext>
                  </a:extLst>
                </p:cNvPr>
                <p:cNvSpPr/>
                <p:nvPr/>
              </p:nvSpPr>
              <p:spPr>
                <a:xfrm>
                  <a:off x="3037523" y="4648867"/>
                  <a:ext cx="554002" cy="141442"/>
                </a:xfrm>
                <a:prstGeom prst="roundRect">
                  <a:avLst/>
                </a:prstGeom>
                <a:solidFill>
                  <a:srgbClr val="FFFFFF"/>
                </a:solidFill>
                <a:ln w="12700">
                  <a:solidFill>
                    <a:srgbClr val="C8CDD2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9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0" name="文本框 129">
                  <a:extLst>
                    <a:ext uri="{FF2B5EF4-FFF2-40B4-BE49-F238E27FC236}">
                      <a16:creationId xmlns:a16="http://schemas.microsoft.com/office/drawing/2014/main" id="{174FDE0C-1761-4A10-89D1-ED5B0A6BC07E}"/>
                    </a:ext>
                  </a:extLst>
                </p:cNvPr>
                <p:cNvSpPr txBox="1"/>
                <p:nvPr/>
              </p:nvSpPr>
              <p:spPr>
                <a:xfrm>
                  <a:off x="2932946" y="4594992"/>
                  <a:ext cx="778432" cy="2308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altLang="zh-CN" sz="9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Economy</a:t>
                  </a:r>
                </a:p>
              </p:txBody>
            </p:sp>
          </p:grpSp>
          <p:grpSp>
            <p:nvGrpSpPr>
              <p:cNvPr id="140" name="组合 139">
                <a:extLst>
                  <a:ext uri="{FF2B5EF4-FFF2-40B4-BE49-F238E27FC236}">
                    <a16:creationId xmlns:a16="http://schemas.microsoft.com/office/drawing/2014/main" id="{10B4D43D-9AFC-4663-ADE6-94B028B8D367}"/>
                  </a:ext>
                </a:extLst>
              </p:cNvPr>
              <p:cNvGrpSpPr/>
              <p:nvPr/>
            </p:nvGrpSpPr>
            <p:grpSpPr>
              <a:xfrm>
                <a:off x="1042764" y="5095782"/>
                <a:ext cx="651120" cy="230832"/>
                <a:chOff x="1408758" y="4903001"/>
                <a:chExt cx="651120" cy="230832"/>
              </a:xfrm>
            </p:grpSpPr>
            <p:sp>
              <p:nvSpPr>
                <p:cNvPr id="131" name="c_icon_Climate">
                  <a:extLst>
                    <a:ext uri="{FF2B5EF4-FFF2-40B4-BE49-F238E27FC236}">
                      <a16:creationId xmlns:a16="http://schemas.microsoft.com/office/drawing/2014/main" id="{5228EF7C-16CE-445B-AF39-124E18C468D9}"/>
                    </a:ext>
                  </a:extLst>
                </p:cNvPr>
                <p:cNvSpPr/>
                <p:nvPr/>
              </p:nvSpPr>
              <p:spPr>
                <a:xfrm>
                  <a:off x="1473387" y="4945670"/>
                  <a:ext cx="554002" cy="141442"/>
                </a:xfrm>
                <a:prstGeom prst="roundRect">
                  <a:avLst/>
                </a:prstGeom>
                <a:solidFill>
                  <a:srgbClr val="FFFFFF"/>
                </a:solidFill>
                <a:ln w="12700">
                  <a:solidFill>
                    <a:srgbClr val="C8CDD2"/>
                  </a:solidFill>
                </a:ln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GB" sz="90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4" name="文本框 133">
                  <a:extLst>
                    <a:ext uri="{FF2B5EF4-FFF2-40B4-BE49-F238E27FC236}">
                      <a16:creationId xmlns:a16="http://schemas.microsoft.com/office/drawing/2014/main" id="{180A0122-7D98-41DE-9F08-33A0DA792BD2}"/>
                    </a:ext>
                  </a:extLst>
                </p:cNvPr>
                <p:cNvSpPr txBox="1"/>
                <p:nvPr/>
              </p:nvSpPr>
              <p:spPr>
                <a:xfrm>
                  <a:off x="1408758" y="4903001"/>
                  <a:ext cx="651120" cy="2308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GB" altLang="zh-CN" sz="900" dirty="0">
                      <a:solidFill>
                        <a:schemeClr val="accent5">
                          <a:lumMod val="75000"/>
                        </a:schemeClr>
                      </a:solidFill>
                    </a:rPr>
                    <a:t>Climate</a:t>
                  </a:r>
                </a:p>
              </p:txBody>
            </p:sp>
          </p:grpSp>
        </p:grpSp>
        <p:grpSp>
          <p:nvGrpSpPr>
            <p:cNvPr id="138" name="组合 137">
              <a:extLst>
                <a:ext uri="{FF2B5EF4-FFF2-40B4-BE49-F238E27FC236}">
                  <a16:creationId xmlns:a16="http://schemas.microsoft.com/office/drawing/2014/main" id="{08DCBFD8-E882-40A0-B85A-482F724FC3BD}"/>
                </a:ext>
              </a:extLst>
            </p:cNvPr>
            <p:cNvGrpSpPr/>
            <p:nvPr/>
          </p:nvGrpSpPr>
          <p:grpSpPr>
            <a:xfrm>
              <a:off x="1261579" y="4711983"/>
              <a:ext cx="884075" cy="230832"/>
              <a:chOff x="-272259" y="4503074"/>
              <a:chExt cx="884075" cy="230832"/>
            </a:xfrm>
          </p:grpSpPr>
          <p:sp>
            <p:nvSpPr>
              <p:cNvPr id="124" name="c_icon_Climate">
                <a:extLst>
                  <a:ext uri="{FF2B5EF4-FFF2-40B4-BE49-F238E27FC236}">
                    <a16:creationId xmlns:a16="http://schemas.microsoft.com/office/drawing/2014/main" id="{BDC107D3-4C4B-4EBD-B2D5-541ADC6BD84C}"/>
                  </a:ext>
                </a:extLst>
              </p:cNvPr>
              <p:cNvSpPr/>
              <p:nvPr/>
            </p:nvSpPr>
            <p:spPr>
              <a:xfrm>
                <a:off x="-120997" y="4544962"/>
                <a:ext cx="554002" cy="141442"/>
              </a:xfrm>
              <a:prstGeom prst="roundRect">
                <a:avLst/>
              </a:prstGeom>
              <a:solidFill>
                <a:srgbClr val="FFFFFF"/>
              </a:solidFill>
              <a:ln w="12700">
                <a:solidFill>
                  <a:srgbClr val="C8CDD2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9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8" name="文本框 127">
                <a:extLst>
                  <a:ext uri="{FF2B5EF4-FFF2-40B4-BE49-F238E27FC236}">
                    <a16:creationId xmlns:a16="http://schemas.microsoft.com/office/drawing/2014/main" id="{4CAD05DA-F0BD-444E-9374-3FBF52E5D866}"/>
                  </a:ext>
                </a:extLst>
              </p:cNvPr>
              <p:cNvSpPr txBox="1"/>
              <p:nvPr/>
            </p:nvSpPr>
            <p:spPr>
              <a:xfrm>
                <a:off x="-272259" y="4503074"/>
                <a:ext cx="884075" cy="2308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GB" altLang="zh-CN" sz="900" dirty="0">
                    <a:solidFill>
                      <a:schemeClr val="accent5">
                        <a:lumMod val="75000"/>
                      </a:schemeClr>
                    </a:solidFill>
                  </a:rPr>
                  <a:t>Urbanicity</a:t>
                </a:r>
              </a:p>
            </p:txBody>
          </p:sp>
        </p:grpSp>
      </p:grpSp>
      <p:sp>
        <p:nvSpPr>
          <p:cNvPr id="144" name="c_targets_text">
            <a:extLst>
              <a:ext uri="{FF2B5EF4-FFF2-40B4-BE49-F238E27FC236}">
                <a16:creationId xmlns:a16="http://schemas.microsoft.com/office/drawing/2014/main" id="{601AB31A-53DD-48E0-BABF-8962F83AC374}"/>
              </a:ext>
            </a:extLst>
          </p:cNvPr>
          <p:cNvSpPr txBox="1"/>
          <p:nvPr/>
        </p:nvSpPr>
        <p:spPr>
          <a:xfrm>
            <a:off x="1104785" y="4575455"/>
            <a:ext cx="1256015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3262A"/>
                </a:solidFill>
              </a:defRPr>
            </a:pPr>
            <a:r>
              <a:rPr sz="900" dirty="0"/>
              <a:t>Morphology</a:t>
            </a:r>
            <a:r>
              <a:rPr lang="en-US" sz="900" dirty="0"/>
              <a:t> </a:t>
            </a:r>
            <a:r>
              <a:rPr sz="900" dirty="0"/>
              <a:t>targets</a:t>
            </a:r>
          </a:p>
        </p:txBody>
      </p:sp>
      <p:sp>
        <p:nvSpPr>
          <p:cNvPr id="149" name="c_hbm_box">
            <a:extLst>
              <a:ext uri="{FF2B5EF4-FFF2-40B4-BE49-F238E27FC236}">
                <a16:creationId xmlns:a16="http://schemas.microsoft.com/office/drawing/2014/main" id="{9EE6C99A-BE48-4B5F-A7D6-196FC6839F54}"/>
              </a:ext>
            </a:extLst>
          </p:cNvPr>
          <p:cNvSpPr/>
          <p:nvPr/>
        </p:nvSpPr>
        <p:spPr>
          <a:xfrm>
            <a:off x="2404395" y="4821424"/>
            <a:ext cx="857375" cy="507906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altLang="zh-CN" sz="8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Hierarchical</a:t>
            </a:r>
            <a:br>
              <a:rPr lang="en-GB" altLang="zh-CN" sz="8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zh-CN" sz="8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Bayesian</a:t>
            </a:r>
            <a:br>
              <a:rPr lang="en-GB" altLang="zh-CN" sz="8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GB" altLang="zh-CN" sz="800" b="1" dirty="0">
                <a:solidFill>
                  <a:schemeClr val="bg2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alignment</a:t>
            </a:r>
          </a:p>
        </p:txBody>
      </p:sp>
      <p:pic>
        <p:nvPicPr>
          <p:cNvPr id="156" name="图片 155">
            <a:extLst>
              <a:ext uri="{FF2B5EF4-FFF2-40B4-BE49-F238E27FC236}">
                <a16:creationId xmlns:a16="http://schemas.microsoft.com/office/drawing/2014/main" id="{D50EBB4E-F976-4741-BE5D-B083498CF9D7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3498904" y="4575455"/>
            <a:ext cx="1402682" cy="843571"/>
          </a:xfrm>
          <a:prstGeom prst="rect">
            <a:avLst/>
          </a:prstGeom>
          <a:effectLst>
            <a:softEdge rad="50800"/>
          </a:effectLst>
        </p:spPr>
      </p:pic>
      <p:sp>
        <p:nvSpPr>
          <p:cNvPr id="157" name="文本框 156">
            <a:extLst>
              <a:ext uri="{FF2B5EF4-FFF2-40B4-BE49-F238E27FC236}">
                <a16:creationId xmlns:a16="http://schemas.microsoft.com/office/drawing/2014/main" id="{1887DD1F-7629-4BB1-B56C-A8BF28D1C246}"/>
              </a:ext>
            </a:extLst>
          </p:cNvPr>
          <p:cNvSpPr txBox="1"/>
          <p:nvPr/>
        </p:nvSpPr>
        <p:spPr>
          <a:xfrm>
            <a:off x="3463052" y="5430150"/>
            <a:ext cx="173061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Fix effect across targets</a:t>
            </a:r>
            <a:endParaRPr lang="zh-CN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7E387AF9-431A-44CB-BDCE-F3DFD44CF7B3}"/>
              </a:ext>
            </a:extLst>
          </p:cNvPr>
          <p:cNvSpPr txBox="1"/>
          <p:nvPr/>
        </p:nvSpPr>
        <p:spPr>
          <a:xfrm>
            <a:off x="5293513" y="5315753"/>
            <a:ext cx="2002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solidFill>
                  <a:schemeClr val="bg2">
                    <a:lumMod val="25000"/>
                  </a:schemeClr>
                </a:solidFill>
              </a:rPr>
              <a:t>Delta, high-context settings exhibit later, broader mobilization</a:t>
            </a:r>
            <a:r>
              <a:rPr lang="en-GB" altLang="zh-CN" sz="9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r>
              <a:rPr lang="en-US" altLang="zh-CN" sz="900" b="1" dirty="0">
                <a:solidFill>
                  <a:schemeClr val="bg2">
                    <a:lumMod val="25000"/>
                  </a:schemeClr>
                </a:solidFill>
              </a:rPr>
              <a:t> </a:t>
            </a:r>
            <a:endParaRPr lang="zh-CN" altLang="en-US" sz="800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164" name="文本框 163">
            <a:extLst>
              <a:ext uri="{FF2B5EF4-FFF2-40B4-BE49-F238E27FC236}">
                <a16:creationId xmlns:a16="http://schemas.microsoft.com/office/drawing/2014/main" id="{64F4A3C3-33DC-4ED2-83DF-2CB72B8F5DF2}"/>
              </a:ext>
            </a:extLst>
          </p:cNvPr>
          <p:cNvSpPr txBox="1"/>
          <p:nvPr/>
        </p:nvSpPr>
        <p:spPr>
          <a:xfrm>
            <a:off x="1382156" y="6970567"/>
            <a:ext cx="1389606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Timing beats intensity</a:t>
            </a:r>
            <a:endParaRPr lang="zh-CN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2" name="图片 171">
            <a:extLst>
              <a:ext uri="{FF2B5EF4-FFF2-40B4-BE49-F238E27FC236}">
                <a16:creationId xmlns:a16="http://schemas.microsoft.com/office/drawing/2014/main" id="{14FFC18F-0310-4C54-9D8C-95D670CEEFF6}"/>
              </a:ext>
            </a:extLst>
          </p:cNvPr>
          <p:cNvPicPr>
            <a:picLocks noChangeAspect="1"/>
          </p:cNvPicPr>
          <p:nvPr/>
        </p:nvPicPr>
        <p:blipFill>
          <a:blip r:embed="rId44"/>
          <a:stretch>
            <a:fillRect/>
          </a:stretch>
        </p:blipFill>
        <p:spPr>
          <a:xfrm>
            <a:off x="1193114" y="6080346"/>
            <a:ext cx="1825941" cy="891890"/>
          </a:xfrm>
          <a:prstGeom prst="rect">
            <a:avLst/>
          </a:prstGeom>
        </p:spPr>
      </p:pic>
      <p:sp>
        <p:nvSpPr>
          <p:cNvPr id="173" name="文本框 172">
            <a:extLst>
              <a:ext uri="{FF2B5EF4-FFF2-40B4-BE49-F238E27FC236}">
                <a16:creationId xmlns:a16="http://schemas.microsoft.com/office/drawing/2014/main" id="{D518AC9C-A181-44C1-84AE-76DA2E80F98B}"/>
              </a:ext>
            </a:extLst>
          </p:cNvPr>
          <p:cNvSpPr txBox="1"/>
          <p:nvPr/>
        </p:nvSpPr>
        <p:spPr>
          <a:xfrm>
            <a:off x="3184638" y="6091611"/>
            <a:ext cx="16066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Level ≠ Progress</a:t>
            </a:r>
          </a:p>
          <a:p>
            <a:endParaRPr lang="en-US" altLang="zh-CN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East-high/west-low with exceptions</a:t>
            </a:r>
          </a:p>
          <a:p>
            <a:endParaRPr lang="en-US" altLang="zh-CN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altLang="zh-CN" sz="900" b="1" dirty="0">
                <a:latin typeface="Arial" panose="020B0604020202020204" pitchFamily="34" charset="0"/>
                <a:cs typeface="Arial" panose="020B0604020202020204" pitchFamily="34" charset="0"/>
              </a:rPr>
              <a:t>Different winners for LPI</a:t>
            </a:r>
            <a:endParaRPr lang="zh-CN" altLang="en-US" sz="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7" name="图片 176">
            <a:extLst>
              <a:ext uri="{FF2B5EF4-FFF2-40B4-BE49-F238E27FC236}">
                <a16:creationId xmlns:a16="http://schemas.microsoft.com/office/drawing/2014/main" id="{F3E01A22-EDA8-4736-82A8-1EFAB971FE21}"/>
              </a:ext>
            </a:extLst>
          </p:cNvPr>
          <p:cNvPicPr>
            <a:picLocks noChangeAspect="1"/>
          </p:cNvPicPr>
          <p:nvPr/>
        </p:nvPicPr>
        <p:blipFill>
          <a:blip r:embed="rId45"/>
          <a:stretch>
            <a:fillRect/>
          </a:stretch>
        </p:blipFill>
        <p:spPr>
          <a:xfrm>
            <a:off x="4742051" y="5975096"/>
            <a:ext cx="1261572" cy="1210191"/>
          </a:xfrm>
          <a:prstGeom prst="rect">
            <a:avLst/>
          </a:prstGeom>
        </p:spPr>
      </p:pic>
      <p:pic>
        <p:nvPicPr>
          <p:cNvPr id="181" name="图片 180">
            <a:extLst>
              <a:ext uri="{FF2B5EF4-FFF2-40B4-BE49-F238E27FC236}">
                <a16:creationId xmlns:a16="http://schemas.microsoft.com/office/drawing/2014/main" id="{D6EE05A4-5E86-4FD1-9B2C-632892627839}"/>
              </a:ext>
            </a:extLst>
          </p:cNvPr>
          <p:cNvPicPr>
            <a:picLocks noChangeAspect="1"/>
          </p:cNvPicPr>
          <p:nvPr/>
        </p:nvPicPr>
        <p:blipFill>
          <a:blip r:embed="rId46"/>
          <a:stretch>
            <a:fillRect/>
          </a:stretch>
        </p:blipFill>
        <p:spPr>
          <a:xfrm>
            <a:off x="6029470" y="6005675"/>
            <a:ext cx="1275597" cy="1210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657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</TotalTime>
  <Words>183</Words>
  <Application>Microsoft Office PowerPoint</Application>
  <PresentationFormat>自定义</PresentationFormat>
  <Paragraphs>57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Arial</vt:lpstr>
      <vt:lpstr>Calibri</vt:lpstr>
      <vt:lpstr>Cambria Math</vt:lpstr>
      <vt:lpstr>Times New Roman</vt:lpstr>
      <vt:lpstr>Office Theme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Administrator</dc:creator>
  <cp:keywords/>
  <dc:description>generated using python-pptx</dc:description>
  <cp:lastModifiedBy>Hao Wang</cp:lastModifiedBy>
  <cp:revision>60</cp:revision>
  <dcterms:created xsi:type="dcterms:W3CDTF">2013-01-27T09:14:16Z</dcterms:created>
  <dcterms:modified xsi:type="dcterms:W3CDTF">2025-10-25T03:29:50Z</dcterms:modified>
  <cp:category/>
</cp:coreProperties>
</file>