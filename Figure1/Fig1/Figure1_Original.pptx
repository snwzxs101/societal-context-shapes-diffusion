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6" r:id="rId3"/>
    <p:sldId id="259" r:id="rId4"/>
  </p:sldIdLst>
  <p:sldSz cx="9144000" cy="7383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40" d="100"/>
          <a:sy n="140" d="100"/>
        </p:scale>
        <p:origin x="48" y="102"/>
      </p:cViewPr>
      <p:guideLst>
        <p:guide orient="horz" pos="26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46530"/>
            <a:ext cx="7772400" cy="18261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27649"/>
            <a:ext cx="6400800" cy="21771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74491"/>
            <a:ext cx="7772400" cy="169204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610877"/>
            <a:ext cx="7772400" cy="186361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7856"/>
            <a:ext cx="4038600" cy="56223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7856"/>
            <a:ext cx="4038600" cy="56223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7001"/>
            <a:ext cx="4040188" cy="7947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1748"/>
            <a:ext cx="4040188" cy="49085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907001"/>
            <a:ext cx="4041775" cy="7947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701748"/>
            <a:ext cx="4041775" cy="49085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39197"/>
            <a:ext cx="3008313" cy="14435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39198"/>
            <a:ext cx="5111750" cy="727105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82760"/>
            <a:ext cx="3008313" cy="58274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963566"/>
            <a:ext cx="5486400" cy="70403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61223"/>
            <a:ext cx="5486400" cy="5111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667599"/>
            <a:ext cx="5486400" cy="9998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41171"/>
            <a:ext cx="2057400" cy="72690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41171"/>
            <a:ext cx="6019800" cy="72690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1170"/>
            <a:ext cx="8229600" cy="1419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7856"/>
            <a:ext cx="8229600" cy="5622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7896204"/>
            <a:ext cx="2133600" cy="453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7896204"/>
            <a:ext cx="2895600" cy="453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7896204"/>
            <a:ext cx="2133600" cy="453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17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1.svg"/><Relationship Id="rId28" Type="http://schemas.openxmlformats.org/officeDocument/2006/relationships/image" Target="../media/image26.jpg"/><Relationship Id="rId36" Type="http://schemas.openxmlformats.org/officeDocument/2006/relationships/image" Target="../media/image34.png"/><Relationship Id="rId10" Type="http://schemas.openxmlformats.org/officeDocument/2006/relationships/image" Target="../media/image9.svg"/><Relationship Id="rId19" Type="http://schemas.openxmlformats.org/officeDocument/2006/relationships/image" Target="../media/image13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0.png"/><Relationship Id="rId3" Type="http://schemas.openxmlformats.org/officeDocument/2006/relationships/image" Target="../media/image310.png"/><Relationship Id="rId7" Type="http://schemas.openxmlformats.org/officeDocument/2006/relationships/image" Target="../media/image350.png"/><Relationship Id="rId12" Type="http://schemas.openxmlformats.org/officeDocument/2006/relationships/image" Target="../media/image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11" Type="http://schemas.openxmlformats.org/officeDocument/2006/relationships/image" Target="../media/image390.png"/><Relationship Id="rId5" Type="http://schemas.openxmlformats.org/officeDocument/2006/relationships/image" Target="../media/image45.png"/><Relationship Id="rId10" Type="http://schemas.openxmlformats.org/officeDocument/2006/relationships/image" Target="../media/image380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Relationship Id="rId14" Type="http://schemas.openxmlformats.org/officeDocument/2006/relationships/image" Target="../media/image4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Connector 29">
            <a:extLst>
              <a:ext uri="{FF2B5EF4-FFF2-40B4-BE49-F238E27FC236}">
                <a16:creationId xmlns:a16="http://schemas.microsoft.com/office/drawing/2014/main" id="{C4DC8432-3592-481B-AAF7-B1615C41B573}"/>
              </a:ext>
            </a:extLst>
          </p:cNvPr>
          <p:cNvCxnSpPr>
            <a:cxnSpLocks/>
          </p:cNvCxnSpPr>
          <p:nvPr/>
        </p:nvCxnSpPr>
        <p:spPr>
          <a:xfrm>
            <a:off x="4863232" y="5048279"/>
            <a:ext cx="430281" cy="0"/>
          </a:xfrm>
          <a:prstGeom prst="line">
            <a:avLst/>
          </a:prstGeom>
          <a:ln w="25400">
            <a:solidFill>
              <a:srgbClr val="C8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6" name="图片 165">
            <a:extLst>
              <a:ext uri="{FF2B5EF4-FFF2-40B4-BE49-F238E27FC236}">
                <a16:creationId xmlns:a16="http://schemas.microsoft.com/office/drawing/2014/main" id="{30066561-97B1-44A8-8590-6C704CD2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46" y="4673702"/>
            <a:ext cx="2120609" cy="771292"/>
          </a:xfrm>
          <a:prstGeom prst="rect">
            <a:avLst/>
          </a:prstGeom>
          <a:effectLst>
            <a:softEdge rad="38100"/>
          </a:effectLst>
        </p:spPr>
      </p:pic>
      <p:cxnSp>
        <p:nvCxnSpPr>
          <p:cNvPr id="154" name="Connector 29">
            <a:extLst>
              <a:ext uri="{FF2B5EF4-FFF2-40B4-BE49-F238E27FC236}">
                <a16:creationId xmlns:a16="http://schemas.microsoft.com/office/drawing/2014/main" id="{3A867C09-B776-4F0C-AB8D-E45BE9A3C06E}"/>
              </a:ext>
            </a:extLst>
          </p:cNvPr>
          <p:cNvCxnSpPr>
            <a:cxnSpLocks/>
          </p:cNvCxnSpPr>
          <p:nvPr/>
        </p:nvCxnSpPr>
        <p:spPr>
          <a:xfrm>
            <a:off x="3265648" y="5059502"/>
            <a:ext cx="228600" cy="0"/>
          </a:xfrm>
          <a:prstGeom prst="line">
            <a:avLst/>
          </a:prstGeom>
          <a:ln w="25400">
            <a:solidFill>
              <a:srgbClr val="C8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29">
            <a:extLst>
              <a:ext uri="{FF2B5EF4-FFF2-40B4-BE49-F238E27FC236}">
                <a16:creationId xmlns:a16="http://schemas.microsoft.com/office/drawing/2014/main" id="{B2DC8FFC-85F3-4072-ACE4-7454C9515BD6}"/>
              </a:ext>
            </a:extLst>
          </p:cNvPr>
          <p:cNvCxnSpPr>
            <a:cxnSpLocks/>
          </p:cNvCxnSpPr>
          <p:nvPr/>
        </p:nvCxnSpPr>
        <p:spPr>
          <a:xfrm>
            <a:off x="2165813" y="5063869"/>
            <a:ext cx="228600" cy="0"/>
          </a:xfrm>
          <a:prstGeom prst="line">
            <a:avLst/>
          </a:prstGeom>
          <a:ln w="25400">
            <a:solidFill>
              <a:srgbClr val="C8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_targets_box">
            <a:extLst>
              <a:ext uri="{FF2B5EF4-FFF2-40B4-BE49-F238E27FC236}">
                <a16:creationId xmlns:a16="http://schemas.microsoft.com/office/drawing/2014/main" id="{125206EB-6AB7-43CF-9B81-4BAE9AD1843A}"/>
              </a:ext>
            </a:extLst>
          </p:cNvPr>
          <p:cNvSpPr/>
          <p:nvPr/>
        </p:nvSpPr>
        <p:spPr>
          <a:xfrm>
            <a:off x="1128396" y="4614190"/>
            <a:ext cx="1097280" cy="992086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B2F34DC3-F646-490B-B7E0-2191EEAB1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530" y="3228280"/>
            <a:ext cx="1549158" cy="10911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4541A65-4BEA-4608-9842-B52FE0D73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844" y="926815"/>
            <a:ext cx="757157" cy="381859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42572E-9B3C-4EFF-883E-52687BB1E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092" y="959215"/>
            <a:ext cx="438324" cy="320386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39964B-4CD0-49FA-9377-5D0B07F4D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3373" y="980592"/>
            <a:ext cx="512539" cy="337809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914AB0B-984B-48BC-909A-BFBEF077AF3D}"/>
              </a:ext>
            </a:extLst>
          </p:cNvPr>
          <p:cNvSpPr/>
          <p:nvPr/>
        </p:nvSpPr>
        <p:spPr>
          <a:xfrm>
            <a:off x="1168776" y="746619"/>
            <a:ext cx="2847975" cy="183836"/>
          </a:xfrm>
          <a:prstGeom prst="round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Original/Alpha       →     Delta      →      Omicron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C92F54-AC88-4083-BF9D-1F3063B807A7}"/>
              </a:ext>
            </a:extLst>
          </p:cNvPr>
          <p:cNvSpPr/>
          <p:nvPr/>
        </p:nvSpPr>
        <p:spPr>
          <a:xfrm>
            <a:off x="1114532" y="42897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1. Data &amp; problem setup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126C9B-A8D4-48B2-8764-F13E8BA47298}"/>
              </a:ext>
            </a:extLst>
          </p:cNvPr>
          <p:cNvSpPr/>
          <p:nvPr/>
        </p:nvSpPr>
        <p:spPr>
          <a:xfrm>
            <a:off x="1114531" y="1357313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2. PINN learning of SMF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FC8E1F-8E91-43A8-956A-DF419CAD08E9}"/>
              </a:ext>
            </a:extLst>
          </p:cNvPr>
          <p:cNvSpPr/>
          <p:nvPr/>
        </p:nvSpPr>
        <p:spPr>
          <a:xfrm>
            <a:off x="1114532" y="2862204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3. Morphology &amp; shape landscape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6AD093-C9A0-4F54-B7CD-F2DD0FBB9590}"/>
              </a:ext>
            </a:extLst>
          </p:cNvPr>
          <p:cNvSpPr/>
          <p:nvPr/>
        </p:nvSpPr>
        <p:spPr>
          <a:xfrm>
            <a:off x="1114530" y="4314859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4. </a:t>
            </a:r>
            <a:r>
              <a:rPr lang="en-US" altLang="zh-CN" sz="1400" b="1" dirty="0">
                <a:solidFill>
                  <a:schemeClr val="tx1"/>
                </a:solidFill>
              </a:rPr>
              <a:t>Alignment with societal context &amp; period sensitivity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3FC54B-2210-40E3-A5A8-6FDF4B602F5D}"/>
              </a:ext>
            </a:extLst>
          </p:cNvPr>
          <p:cNvSpPr/>
          <p:nvPr/>
        </p:nvSpPr>
        <p:spPr>
          <a:xfrm>
            <a:off x="1114529" y="5729355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5. </a:t>
            </a:r>
            <a:r>
              <a:rPr lang="en-US" altLang="zh-CN" sz="1400" b="1" dirty="0">
                <a:solidFill>
                  <a:schemeClr val="tx1"/>
                </a:solidFill>
              </a:rPr>
              <a:t>Context-aware action guidance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703E6FA-F7B1-4503-9F2C-D6DAD27E5CAE}"/>
              </a:ext>
            </a:extLst>
          </p:cNvPr>
          <p:cNvSpPr txBox="1"/>
          <p:nvPr/>
        </p:nvSpPr>
        <p:spPr>
          <a:xfrm>
            <a:off x="1153441" y="438057"/>
            <a:ext cx="25430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210 province-level waves</a:t>
            </a:r>
            <a:r>
              <a:rPr lang="zh-CN" alt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 ｜</a:t>
            </a:r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 30 provinces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形 8" descr="统计数据 纯色填充">
            <a:extLst>
              <a:ext uri="{FF2B5EF4-FFF2-40B4-BE49-F238E27FC236}">
                <a16:creationId xmlns:a16="http://schemas.microsoft.com/office/drawing/2014/main" id="{6305C6C7-E6A9-4B54-9F95-3C8DF6CE5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8263" y="304822"/>
            <a:ext cx="428517" cy="375302"/>
          </a:xfrm>
          <a:prstGeom prst="rect">
            <a:avLst/>
          </a:prstGeom>
        </p:spPr>
      </p:pic>
      <p:pic>
        <p:nvPicPr>
          <p:cNvPr id="19" name="图形 18" descr="标记 纯色填充">
            <a:extLst>
              <a:ext uri="{FF2B5EF4-FFF2-40B4-BE49-F238E27FC236}">
                <a16:creationId xmlns:a16="http://schemas.microsoft.com/office/drawing/2014/main" id="{A9A8D538-AFA1-4966-8C55-3D1A0B20BB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4705" y="746619"/>
            <a:ext cx="188731" cy="188731"/>
          </a:xfrm>
          <a:prstGeom prst="rect">
            <a:avLst/>
          </a:prstGeom>
        </p:spPr>
      </p:pic>
      <p:pic>
        <p:nvPicPr>
          <p:cNvPr id="21" name="图形 20" descr="标记 纯色填充">
            <a:extLst>
              <a:ext uri="{FF2B5EF4-FFF2-40B4-BE49-F238E27FC236}">
                <a16:creationId xmlns:a16="http://schemas.microsoft.com/office/drawing/2014/main" id="{5514FB9E-AA95-4A25-A7B8-12BE941653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30726" y="732716"/>
            <a:ext cx="188731" cy="1887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D9ABE2D-A226-45EF-95B8-6CC33E53B981}"/>
                  </a:ext>
                </a:extLst>
              </p:cNvPr>
              <p:cNvSpPr txBox="1"/>
              <p:nvPr/>
            </p:nvSpPr>
            <p:spPr>
              <a:xfrm>
                <a:off x="5086422" y="245316"/>
                <a:ext cx="20729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Learn an interpretable susceptibility mobilization function, </a:t>
                </a:r>
                <a14:m>
                  <m:oMath xmlns:m="http://schemas.openxmlformats.org/officeDocument/2006/math"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 for each wave that bends the epidemic curve</a:t>
                </a:r>
                <a:endParaRPr lang="zh-CN" altLang="en-US" sz="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D9ABE2D-A226-45EF-95B8-6CC33E53B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422" y="245316"/>
                <a:ext cx="2072940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E11E16AC-263A-4A2B-8CBA-C99BC200C727}"/>
              </a:ext>
            </a:extLst>
          </p:cNvPr>
          <p:cNvSpPr txBox="1"/>
          <p:nvPr/>
        </p:nvSpPr>
        <p:spPr>
          <a:xfrm>
            <a:off x="1933494" y="878512"/>
            <a:ext cx="14698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50000"/>
                  </a:schemeClr>
                </a:solidFill>
              </a:rPr>
              <a:t>2021.6                2022.1</a:t>
            </a:r>
            <a:endParaRPr lang="zh-CN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c_icon_Climate">
            <a:extLst>
              <a:ext uri="{FF2B5EF4-FFF2-40B4-BE49-F238E27FC236}">
                <a16:creationId xmlns:a16="http://schemas.microsoft.com/office/drawing/2014/main" id="{9A3AD9E6-C5CB-4AB2-95C5-27D24FE82E0C}"/>
              </a:ext>
            </a:extLst>
          </p:cNvPr>
          <p:cNvSpPr/>
          <p:nvPr/>
        </p:nvSpPr>
        <p:spPr>
          <a:xfrm>
            <a:off x="4852012" y="840296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4F72C3D-1DA3-4AC6-B973-32560BA528C1}"/>
              </a:ext>
            </a:extLst>
          </p:cNvPr>
          <p:cNvSpPr txBox="1"/>
          <p:nvPr/>
        </p:nvSpPr>
        <p:spPr>
          <a:xfrm>
            <a:off x="4974266" y="1170044"/>
            <a:ext cx="2450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Domains will be used for alignment (HBM)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99FC1-9050-44E5-8263-C311B0A3C278}"/>
              </a:ext>
            </a:extLst>
          </p:cNvPr>
          <p:cNvCxnSpPr/>
          <p:nvPr/>
        </p:nvCxnSpPr>
        <p:spPr>
          <a:xfrm>
            <a:off x="4101152" y="354710"/>
            <a:ext cx="0" cy="809054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8AE71AC-AE36-4210-B7F3-71C1C105C254}"/>
              </a:ext>
            </a:extLst>
          </p:cNvPr>
          <p:cNvCxnSpPr/>
          <p:nvPr/>
        </p:nvCxnSpPr>
        <p:spPr>
          <a:xfrm>
            <a:off x="4417560" y="720373"/>
            <a:ext cx="2818262" cy="11377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C60C5BAF-95D1-4900-82AA-C17564F073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9451" y="812249"/>
            <a:ext cx="652917" cy="488536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523C86DE-56E5-4A7E-BD17-7D56683AAE5D}"/>
              </a:ext>
            </a:extLst>
          </p:cNvPr>
          <p:cNvSpPr txBox="1"/>
          <p:nvPr/>
        </p:nvSpPr>
        <p:spPr>
          <a:xfrm>
            <a:off x="4791262" y="796637"/>
            <a:ext cx="6871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Tourism</a:t>
            </a:r>
          </a:p>
        </p:txBody>
      </p:sp>
      <p:sp>
        <p:nvSpPr>
          <p:cNvPr id="52" name="c_icon_Climate">
            <a:extLst>
              <a:ext uri="{FF2B5EF4-FFF2-40B4-BE49-F238E27FC236}">
                <a16:creationId xmlns:a16="http://schemas.microsoft.com/office/drawing/2014/main" id="{510632CF-E7C4-48C3-B78C-0AB740FAA407}"/>
              </a:ext>
            </a:extLst>
          </p:cNvPr>
          <p:cNvSpPr/>
          <p:nvPr/>
        </p:nvSpPr>
        <p:spPr>
          <a:xfrm>
            <a:off x="5489752" y="849480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3" name="c_icon_Climate">
            <a:extLst>
              <a:ext uri="{FF2B5EF4-FFF2-40B4-BE49-F238E27FC236}">
                <a16:creationId xmlns:a16="http://schemas.microsoft.com/office/drawing/2014/main" id="{6F9961C8-7EC8-4457-AD87-EF257C3CDA9F}"/>
              </a:ext>
            </a:extLst>
          </p:cNvPr>
          <p:cNvSpPr/>
          <p:nvPr/>
        </p:nvSpPr>
        <p:spPr>
          <a:xfrm>
            <a:off x="6115344" y="848714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4" name="c_icon_Climate">
            <a:extLst>
              <a:ext uri="{FF2B5EF4-FFF2-40B4-BE49-F238E27FC236}">
                <a16:creationId xmlns:a16="http://schemas.microsoft.com/office/drawing/2014/main" id="{29960BD5-6DDD-4D61-86A6-D337E67E7D8B}"/>
              </a:ext>
            </a:extLst>
          </p:cNvPr>
          <p:cNvSpPr/>
          <p:nvPr/>
        </p:nvSpPr>
        <p:spPr>
          <a:xfrm>
            <a:off x="6738541" y="847903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5" name="c_icon_Climate">
            <a:extLst>
              <a:ext uri="{FF2B5EF4-FFF2-40B4-BE49-F238E27FC236}">
                <a16:creationId xmlns:a16="http://schemas.microsoft.com/office/drawing/2014/main" id="{66A6B4EC-4937-42AB-B6C0-D77CD654E45C}"/>
              </a:ext>
            </a:extLst>
          </p:cNvPr>
          <p:cNvSpPr/>
          <p:nvPr/>
        </p:nvSpPr>
        <p:spPr>
          <a:xfrm>
            <a:off x="5157514" y="1007896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6" name="c_icon_Climate">
            <a:extLst>
              <a:ext uri="{FF2B5EF4-FFF2-40B4-BE49-F238E27FC236}">
                <a16:creationId xmlns:a16="http://schemas.microsoft.com/office/drawing/2014/main" id="{098125ED-E6CD-43C9-902A-F3B3888FA0B0}"/>
              </a:ext>
            </a:extLst>
          </p:cNvPr>
          <p:cNvSpPr/>
          <p:nvPr/>
        </p:nvSpPr>
        <p:spPr>
          <a:xfrm>
            <a:off x="5801081" y="1021940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7" name="c_icon_Climate">
            <a:extLst>
              <a:ext uri="{FF2B5EF4-FFF2-40B4-BE49-F238E27FC236}">
                <a16:creationId xmlns:a16="http://schemas.microsoft.com/office/drawing/2014/main" id="{C40BB0BB-BC42-4B38-A317-598B3C71D4C1}"/>
              </a:ext>
            </a:extLst>
          </p:cNvPr>
          <p:cNvSpPr/>
          <p:nvPr/>
        </p:nvSpPr>
        <p:spPr>
          <a:xfrm>
            <a:off x="6444649" y="1025655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3869376-0EBC-43E6-B3EC-A521DBE8D5A8}"/>
              </a:ext>
            </a:extLst>
          </p:cNvPr>
          <p:cNvSpPr txBox="1"/>
          <p:nvPr/>
        </p:nvSpPr>
        <p:spPr>
          <a:xfrm>
            <a:off x="5324715" y="791108"/>
            <a:ext cx="8840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Urbanicity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5EEDB5A-FEF3-4D8A-9B3C-E6F01BD17560}"/>
              </a:ext>
            </a:extLst>
          </p:cNvPr>
          <p:cNvSpPr txBox="1"/>
          <p:nvPr/>
        </p:nvSpPr>
        <p:spPr>
          <a:xfrm>
            <a:off x="6019900" y="796637"/>
            <a:ext cx="7566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Healthcare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AB2183C-521A-4DD8-A9E3-5460B1FE008B}"/>
              </a:ext>
            </a:extLst>
          </p:cNvPr>
          <p:cNvSpPr txBox="1"/>
          <p:nvPr/>
        </p:nvSpPr>
        <p:spPr>
          <a:xfrm>
            <a:off x="6609435" y="791876"/>
            <a:ext cx="778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Economy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1FF9CE0-1390-488D-9BA3-A76BC481017C}"/>
              </a:ext>
            </a:extLst>
          </p:cNvPr>
          <p:cNvSpPr txBox="1"/>
          <p:nvPr/>
        </p:nvSpPr>
        <p:spPr>
          <a:xfrm>
            <a:off x="5091832" y="962734"/>
            <a:ext cx="651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Climate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E56282B-3D3B-444C-80FE-F62C75148A06}"/>
              </a:ext>
            </a:extLst>
          </p:cNvPr>
          <p:cNvSpPr txBox="1"/>
          <p:nvPr/>
        </p:nvSpPr>
        <p:spPr>
          <a:xfrm>
            <a:off x="5630293" y="974043"/>
            <a:ext cx="91458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Mobility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AB7E662-B1BC-4CA6-A8BA-C0707A877A8B}"/>
              </a:ext>
            </a:extLst>
          </p:cNvPr>
          <p:cNvSpPr txBox="1"/>
          <p:nvPr/>
        </p:nvSpPr>
        <p:spPr>
          <a:xfrm>
            <a:off x="6276325" y="977942"/>
            <a:ext cx="91458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Population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9FDEA55-C2B1-4F57-B632-42EABE9B70B3}"/>
              </a:ext>
            </a:extLst>
          </p:cNvPr>
          <p:cNvGrpSpPr/>
          <p:nvPr/>
        </p:nvGrpSpPr>
        <p:grpSpPr>
          <a:xfrm>
            <a:off x="1343260" y="1734059"/>
            <a:ext cx="1042804" cy="588474"/>
            <a:chOff x="1486016" y="1625702"/>
            <a:chExt cx="1322030" cy="6878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5CF58645-706F-4C8B-BD2A-B938BAD757BD}"/>
                    </a:ext>
                  </a:extLst>
                </p:cNvPr>
                <p:cNvSpPr/>
                <p:nvPr/>
              </p:nvSpPr>
              <p:spPr>
                <a:xfrm>
                  <a:off x="1486016" y="1625702"/>
                  <a:ext cx="368184" cy="22746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1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5CF58645-706F-4C8B-BD2A-B938BAD757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016" y="1625702"/>
                  <a:ext cx="368184" cy="227468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0E8C808E-2183-4B04-8B4A-FE878CD4B169}"/>
                    </a:ext>
                  </a:extLst>
                </p:cNvPr>
                <p:cNvSpPr/>
                <p:nvPr/>
              </p:nvSpPr>
              <p:spPr>
                <a:xfrm>
                  <a:off x="1530437" y="2134698"/>
                  <a:ext cx="279226" cy="178830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0E8C808E-2183-4B04-8B4A-FE878CD4B1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437" y="2134698"/>
                  <a:ext cx="279226" cy="178830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F46F815-2861-4FE6-A963-5730B1AA5A05}"/>
                    </a:ext>
                  </a:extLst>
                </p:cNvPr>
                <p:cNvSpPr/>
                <p:nvPr/>
              </p:nvSpPr>
              <p:spPr>
                <a:xfrm>
                  <a:off x="2044388" y="1984585"/>
                  <a:ext cx="279226" cy="178830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F46F815-2861-4FE6-A963-5730B1AA5A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388" y="1984585"/>
                  <a:ext cx="279226" cy="178830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575960F-0F67-4A4F-9A5E-4C9B51B4B0CB}"/>
                    </a:ext>
                  </a:extLst>
                </p:cNvPr>
                <p:cNvSpPr/>
                <p:nvPr/>
              </p:nvSpPr>
              <p:spPr>
                <a:xfrm>
                  <a:off x="2528820" y="1978366"/>
                  <a:ext cx="279226" cy="178830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575960F-0F67-4A4F-9A5E-4C9B51B4B0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8820" y="1978366"/>
                  <a:ext cx="279226" cy="178830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BABDAAED-D0ED-4AA0-8EBF-CEA74AE3B46B}"/>
                </a:ext>
              </a:extLst>
            </p:cNvPr>
            <p:cNvCxnSpPr>
              <a:cxnSpLocks/>
              <a:stCxn id="64" idx="3"/>
              <a:endCxn id="66" idx="1"/>
            </p:cNvCxnSpPr>
            <p:nvPr/>
          </p:nvCxnSpPr>
          <p:spPr>
            <a:xfrm flipV="1">
              <a:off x="1809663" y="2074000"/>
              <a:ext cx="234725" cy="150113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9FAAEED2-C275-4EED-AB29-698DA0F9DF1B}"/>
                </a:ext>
              </a:extLst>
            </p:cNvPr>
            <p:cNvCxnSpPr>
              <a:cxnSpLocks/>
              <a:stCxn id="66" idx="3"/>
              <a:endCxn id="67" idx="1"/>
            </p:cNvCxnSpPr>
            <p:nvPr/>
          </p:nvCxnSpPr>
          <p:spPr>
            <a:xfrm flipV="1">
              <a:off x="2323614" y="2067781"/>
              <a:ext cx="205206" cy="6219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BEB9D6C4-8612-483C-A9F5-E0DBB8D0EFBF}"/>
                  </a:ext>
                </a:extLst>
              </p:cNvPr>
              <p:cNvSpPr txBox="1"/>
              <p:nvPr/>
            </p:nvSpPr>
            <p:spPr>
              <a:xfrm>
                <a:off x="1128396" y="1932964"/>
                <a:ext cx="290421" cy="23083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9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BEB9D6C4-8612-483C-A9F5-E0DBB8D0E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396" y="1932964"/>
                <a:ext cx="290421" cy="230832"/>
              </a:xfrm>
              <a:prstGeom prst="rect">
                <a:avLst/>
              </a:prstGeom>
              <a:blipFill>
                <a:blip r:embed="rId19"/>
                <a:stretch>
                  <a:fillRect r="-22917" b="-2632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F904980-4EF1-492E-A063-650D032D1C4B}"/>
              </a:ext>
            </a:extLst>
          </p:cNvPr>
          <p:cNvCxnSpPr>
            <a:cxnSpLocks/>
            <a:stCxn id="61" idx="2"/>
            <a:endCxn id="64" idx="0"/>
          </p:cNvCxnSpPr>
          <p:nvPr/>
        </p:nvCxnSpPr>
        <p:spPr>
          <a:xfrm flipH="1">
            <a:off x="1488425" y="1928671"/>
            <a:ext cx="45" cy="24086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图形 88" descr="组 纯色填充">
            <a:extLst>
              <a:ext uri="{FF2B5EF4-FFF2-40B4-BE49-F238E27FC236}">
                <a16:creationId xmlns:a16="http://schemas.microsoft.com/office/drawing/2014/main" id="{9F2BF75D-596D-4B79-9DCE-1A1855061BA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91928" y="341084"/>
            <a:ext cx="354466" cy="354466"/>
          </a:xfrm>
          <a:prstGeom prst="rect">
            <a:avLst/>
          </a:prstGeom>
        </p:spPr>
      </p:pic>
      <p:pic>
        <p:nvPicPr>
          <p:cNvPr id="91" name="图形 90" descr="齿轮 纯色填充">
            <a:extLst>
              <a:ext uri="{FF2B5EF4-FFF2-40B4-BE49-F238E27FC236}">
                <a16:creationId xmlns:a16="http://schemas.microsoft.com/office/drawing/2014/main" id="{7562936A-1798-457B-8468-30549915E6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520230" y="1953012"/>
            <a:ext cx="341668" cy="341668"/>
          </a:xfrm>
          <a:prstGeom prst="rect">
            <a:avLst/>
          </a:prstGeom>
        </p:spPr>
      </p:pic>
      <p:pic>
        <p:nvPicPr>
          <p:cNvPr id="97" name="图形 96" descr="箭头: 直 纯色填充">
            <a:extLst>
              <a:ext uri="{FF2B5EF4-FFF2-40B4-BE49-F238E27FC236}">
                <a16:creationId xmlns:a16="http://schemas.microsoft.com/office/drawing/2014/main" id="{658EE301-3C6A-4F0B-BAC6-585BC5A4FB4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5469338" y="2154538"/>
            <a:ext cx="460004" cy="338801"/>
          </a:xfrm>
          <a:prstGeom prst="rect">
            <a:avLst/>
          </a:prstGeom>
        </p:spPr>
      </p:pic>
      <p:pic>
        <p:nvPicPr>
          <p:cNvPr id="99" name="图形 98" descr="箭头: 轻微弯曲 纯色填充">
            <a:extLst>
              <a:ext uri="{FF2B5EF4-FFF2-40B4-BE49-F238E27FC236}">
                <a16:creationId xmlns:a16="http://schemas.microsoft.com/office/drawing/2014/main" id="{BE5851E4-94F3-4F21-8221-1D5359976C3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893394">
            <a:off x="2391791" y="2151556"/>
            <a:ext cx="478843" cy="265775"/>
          </a:xfrm>
          <a:prstGeom prst="rect">
            <a:avLst/>
          </a:prstGeom>
        </p:spPr>
      </p:pic>
      <p:sp>
        <p:nvSpPr>
          <p:cNvPr id="85" name="文本框 84">
            <a:extLst>
              <a:ext uri="{FF2B5EF4-FFF2-40B4-BE49-F238E27FC236}">
                <a16:creationId xmlns:a16="http://schemas.microsoft.com/office/drawing/2014/main" id="{00BC64E3-2C9E-40AB-973C-689EB3CB7622}"/>
              </a:ext>
            </a:extLst>
          </p:cNvPr>
          <p:cNvSpPr txBox="1"/>
          <p:nvPr/>
        </p:nvSpPr>
        <p:spPr>
          <a:xfrm>
            <a:off x="1551070" y="2334289"/>
            <a:ext cx="11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Physics-informed</a:t>
            </a:r>
          </a:p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covariate-free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FBCB76-8186-49FC-BD4A-568A5BFCF6E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32946" y="1606882"/>
            <a:ext cx="2584130" cy="1159285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5BE2A20-EFE1-489C-BC0B-4E1C7887C749}"/>
              </a:ext>
            </a:extLst>
          </p:cNvPr>
          <p:cNvSpPr txBox="1"/>
          <p:nvPr/>
        </p:nvSpPr>
        <p:spPr>
          <a:xfrm>
            <a:off x="5378472" y="2387236"/>
            <a:ext cx="6414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b="1" i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CN" sz="9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utput</a:t>
            </a:r>
            <a:endParaRPr lang="zh-CN" altLang="en-US" sz="9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5AD7E4-E597-4185-8F72-D5776ACB6268}"/>
                  </a:ext>
                </a:extLst>
              </p:cNvPr>
              <p:cNvSpPr txBox="1"/>
              <p:nvPr/>
            </p:nvSpPr>
            <p:spPr>
              <a:xfrm>
                <a:off x="5968514" y="2317986"/>
                <a:ext cx="1215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9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zh-CN" altLang="en-US" sz="900" b="1" dirty="0"/>
                  <a:t> </a:t>
                </a:r>
                <a:r>
                  <a:rPr lang="en-US" altLang="zh-CN" sz="900" b="1" dirty="0"/>
                  <a:t>and fitted curve</a:t>
                </a:r>
                <a:endParaRPr lang="zh-CN" altLang="en-US" sz="900" b="1" dirty="0"/>
              </a:p>
              <a:p>
                <a:r>
                  <a:rPr lang="en-US" altLang="zh-CN" sz="900" b="1" dirty="0"/>
                  <a:t>for 210 waves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5AD7E4-E597-4185-8F72-D5776ACB6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514" y="2317986"/>
                <a:ext cx="1215537" cy="369332"/>
              </a:xfrm>
              <a:prstGeom prst="rect">
                <a:avLst/>
              </a:prstGeom>
              <a:blipFill>
                <a:blip r:embed="rId2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B9AD5F75-01FA-4266-A234-BC39E48C2BF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71876" y="1687691"/>
            <a:ext cx="1427871" cy="54106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13F9E09-E727-471A-9B1D-9EF63B82D98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27186" y="3181321"/>
            <a:ext cx="1815913" cy="1182307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9A97620-F928-4B67-9AC6-77ACE148B85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2185" y="3095455"/>
            <a:ext cx="1657363" cy="11874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ACC43C3-4E73-4042-BDE0-223CC67E6FA7}"/>
                  </a:ext>
                </a:extLst>
              </p:cNvPr>
              <p:cNvSpPr txBox="1"/>
              <p:nvPr/>
            </p:nvSpPr>
            <p:spPr>
              <a:xfrm>
                <a:off x="1122962" y="3081518"/>
                <a:ext cx="770861" cy="23083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:r>
                  <a:rPr lang="en-US" altLang="zh-CN" sz="900" b="1" dirty="0">
                    <a:solidFill>
                      <a:schemeClr val="tx2">
                        <a:lumMod val="75000"/>
                      </a:schemeClr>
                    </a:solidFill>
                  </a:rPr>
                  <a:t>SMF -- </a:t>
                </a:r>
                <a14:m>
                  <m:oMath xmlns:m="http://schemas.openxmlformats.org/officeDocument/2006/math"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9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ACC43C3-4E73-4042-BDE0-223CC67E6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962" y="3081518"/>
                <a:ext cx="770861" cy="230832"/>
              </a:xfrm>
              <a:prstGeom prst="rect">
                <a:avLst/>
              </a:prstGeom>
              <a:blipFill>
                <a:blip r:embed="rId33"/>
                <a:stretch>
                  <a:fillRect b="-13158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BEF0CD4-4D4E-46C5-9E89-F0E974FD9E38}"/>
                  </a:ext>
                </a:extLst>
              </p:cNvPr>
              <p:cNvSpPr txBox="1"/>
              <p:nvPr/>
            </p:nvSpPr>
            <p:spPr>
              <a:xfrm>
                <a:off x="2081394" y="3502547"/>
                <a:ext cx="871022" cy="366895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1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𝒄𝒓𝒐𝒔𝒔</m:t>
                          </m:r>
                        </m:sub>
                      </m:sSub>
                      <m:r>
                        <a:rPr lang="en-US" altLang="zh-CN" sz="8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800" b="1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800" b="1" i="1" dirty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800" b="1" i="1" dirty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zh-CN" altLang="en-US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9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BEF0CD4-4D4E-46C5-9E89-F0E974FD9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394" y="3502547"/>
                <a:ext cx="871022" cy="366895"/>
              </a:xfrm>
              <a:prstGeom prst="rect">
                <a:avLst/>
              </a:prstGeom>
              <a:blipFill>
                <a:blip r:embed="rId34"/>
                <a:stretch>
                  <a:fillRect l="-6993" t="-163333" r="-36364" b="-240000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B5130BB-99A0-43C5-9EA4-FF176B0E8996}"/>
              </a:ext>
            </a:extLst>
          </p:cNvPr>
          <p:cNvCxnSpPr>
            <a:cxnSpLocks/>
          </p:cNvCxnSpPr>
          <p:nvPr/>
        </p:nvCxnSpPr>
        <p:spPr>
          <a:xfrm>
            <a:off x="1999074" y="3495160"/>
            <a:ext cx="191608" cy="388018"/>
          </a:xfrm>
          <a:prstGeom prst="line">
            <a:avLst/>
          </a:prstGeom>
          <a:ln w="1651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0A412CD-0AD6-48EC-B968-FCE48C4EBB15}"/>
                  </a:ext>
                </a:extLst>
              </p:cNvPr>
              <p:cNvSpPr txBox="1"/>
              <p:nvPr/>
            </p:nvSpPr>
            <p:spPr>
              <a:xfrm>
                <a:off x="2106135" y="3216062"/>
                <a:ext cx="1356917" cy="397929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𝒄𝒓𝒐𝒔𝒔</m:t>
                          </m:r>
                        </m:sub>
                      </m:sSub>
                      <m:r>
                        <a:rPr lang="en-US" altLang="zh-CN" sz="8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800" b="1" i="1" dirty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800" b="1" i="1" dirty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altLang="zh-CN" sz="800" b="1" i="1" dirty="0" smtClean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num>
                                <m:den>
                                  <m:r>
                                    <a:rPr lang="en-US" altLang="zh-CN" sz="800" b="1" i="1" dirty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𝒅𝒕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𝒄𝒓𝒐𝒔𝒔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9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0A412CD-0AD6-48EC-B968-FCE48C4EB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35" y="3216062"/>
                <a:ext cx="1356917" cy="397929"/>
              </a:xfrm>
              <a:prstGeom prst="rect">
                <a:avLst/>
              </a:prstGeom>
              <a:blipFill>
                <a:blip r:embed="rId35"/>
                <a:stretch>
                  <a:fillRect t="-150769" b="-213846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292FE9B8-B984-44F8-9045-40829BEF0E3D}"/>
              </a:ext>
            </a:extLst>
          </p:cNvPr>
          <p:cNvCxnSpPr>
            <a:cxnSpLocks/>
          </p:cNvCxnSpPr>
          <p:nvPr/>
        </p:nvCxnSpPr>
        <p:spPr>
          <a:xfrm flipH="1">
            <a:off x="1572494" y="3245488"/>
            <a:ext cx="283332" cy="424674"/>
          </a:xfrm>
          <a:prstGeom prst="line">
            <a:avLst/>
          </a:prstGeom>
          <a:ln w="1651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D478336F-B6B8-427D-AA9F-29DCDF1A2D9E}"/>
                  </a:ext>
                </a:extLst>
              </p:cNvPr>
              <p:cNvSpPr txBox="1"/>
              <p:nvPr/>
            </p:nvSpPr>
            <p:spPr>
              <a:xfrm>
                <a:off x="1237597" y="3880081"/>
                <a:ext cx="471359" cy="22506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</m:t>
                          </m:r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𝑠𝑙𝑜𝑝𝑒</m:t>
                          </m:r>
                        </m:sub>
                      </m:sSub>
                    </m:oMath>
                  </m:oMathPara>
                </a14:m>
                <a:endParaRPr lang="zh-CN" altLang="en-US" sz="9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D478336F-B6B8-427D-AA9F-29DCDF1A2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97" y="3880081"/>
                <a:ext cx="471359" cy="225062"/>
              </a:xfrm>
              <a:prstGeom prst="rect">
                <a:avLst/>
              </a:prstGeom>
              <a:blipFill>
                <a:blip r:embed="rId36"/>
                <a:stretch>
                  <a:fillRect r="-12987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571CC18D-EEDD-4FED-A89B-6C703F72B77E}"/>
              </a:ext>
            </a:extLst>
          </p:cNvPr>
          <p:cNvCxnSpPr>
            <a:cxnSpLocks/>
          </p:cNvCxnSpPr>
          <p:nvPr/>
        </p:nvCxnSpPr>
        <p:spPr>
          <a:xfrm>
            <a:off x="1715742" y="3439649"/>
            <a:ext cx="0" cy="588195"/>
          </a:xfrm>
          <a:prstGeom prst="line">
            <a:avLst/>
          </a:prstGeom>
          <a:ln w="63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0BA157CF-10CB-4B26-88F9-213921E81A6C}"/>
              </a:ext>
            </a:extLst>
          </p:cNvPr>
          <p:cNvSpPr/>
          <p:nvPr/>
        </p:nvSpPr>
        <p:spPr>
          <a:xfrm>
            <a:off x="1302958" y="3689169"/>
            <a:ext cx="1676590" cy="139566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F50F0AB-3475-47FB-9127-166AF048FB75}"/>
                  </a:ext>
                </a:extLst>
              </p:cNvPr>
              <p:cNvSpPr txBox="1"/>
              <p:nvPr/>
            </p:nvSpPr>
            <p:spPr>
              <a:xfrm>
                <a:off x="1691124" y="3840705"/>
                <a:ext cx="354593" cy="225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F50F0AB-3475-47FB-9127-166AF048F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124" y="3840705"/>
                <a:ext cx="354593" cy="225383"/>
              </a:xfrm>
              <a:prstGeom prst="rect">
                <a:avLst/>
              </a:prstGeom>
              <a:blipFill>
                <a:blip r:embed="rId37"/>
                <a:stretch>
                  <a:fillRect r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90AD7A4F-833F-40F4-8ACA-5EC6A856A9CD}"/>
              </a:ext>
            </a:extLst>
          </p:cNvPr>
          <p:cNvCxnSpPr>
            <a:cxnSpLocks/>
          </p:cNvCxnSpPr>
          <p:nvPr/>
        </p:nvCxnSpPr>
        <p:spPr>
          <a:xfrm>
            <a:off x="1863408" y="3145957"/>
            <a:ext cx="0" cy="806572"/>
          </a:xfrm>
          <a:prstGeom prst="line">
            <a:avLst/>
          </a:prstGeom>
          <a:ln w="63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25E35FD6-9F90-435C-B560-63CE3F5A4AE9}"/>
              </a:ext>
            </a:extLst>
          </p:cNvPr>
          <p:cNvCxnSpPr>
            <a:cxnSpLocks/>
          </p:cNvCxnSpPr>
          <p:nvPr/>
        </p:nvCxnSpPr>
        <p:spPr>
          <a:xfrm>
            <a:off x="2275551" y="3765300"/>
            <a:ext cx="0" cy="438279"/>
          </a:xfrm>
          <a:prstGeom prst="line">
            <a:avLst/>
          </a:prstGeom>
          <a:ln w="63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608EEBE-64C5-426E-AA53-95B51B523FCD}"/>
                  </a:ext>
                </a:extLst>
              </p:cNvPr>
              <p:cNvSpPr txBox="1"/>
              <p:nvPr/>
            </p:nvSpPr>
            <p:spPr>
              <a:xfrm>
                <a:off x="2272610" y="4105143"/>
                <a:ext cx="354593" cy="225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608EEBE-64C5-426E-AA53-95B51B523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610" y="4105143"/>
                <a:ext cx="354593" cy="22538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右大括号 104">
            <a:extLst>
              <a:ext uri="{FF2B5EF4-FFF2-40B4-BE49-F238E27FC236}">
                <a16:creationId xmlns:a16="http://schemas.microsoft.com/office/drawing/2014/main" id="{36A1B14E-4EF1-4105-A3C2-9DE1006E352E}"/>
              </a:ext>
            </a:extLst>
          </p:cNvPr>
          <p:cNvSpPr/>
          <p:nvPr/>
        </p:nvSpPr>
        <p:spPr>
          <a:xfrm>
            <a:off x="3025091" y="3689169"/>
            <a:ext cx="90122" cy="151536"/>
          </a:xfrm>
          <a:prstGeom prst="rightBrac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1477D7D3-2801-46EB-9811-6521068B9B34}"/>
                  </a:ext>
                </a:extLst>
              </p:cNvPr>
              <p:cNvSpPr txBox="1"/>
              <p:nvPr/>
            </p:nvSpPr>
            <p:spPr>
              <a:xfrm>
                <a:off x="2739627" y="3854642"/>
                <a:ext cx="681234" cy="305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near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-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zero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threshold</m:t>
                      </m:r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1477D7D3-2801-46EB-9811-6521068B9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627" y="3854642"/>
                <a:ext cx="681234" cy="30527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7016BA9-4CA0-4F02-8FC1-519EAB92F284}"/>
                  </a:ext>
                </a:extLst>
              </p:cNvPr>
              <p:cNvSpPr txBox="1"/>
              <p:nvPr/>
            </p:nvSpPr>
            <p:spPr>
              <a:xfrm>
                <a:off x="2122663" y="3045488"/>
                <a:ext cx="1298198" cy="225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800"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𝑒𝑎𝑟𝑙𝑦</m:t>
                        </m:r>
                      </m:sub>
                    </m:sSub>
                    <m:r>
                      <a:rPr lang="zh-CN" altLang="en-US" sz="8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8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8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𝒄𝒓𝒐𝒔𝒔</m:t>
                        </m:r>
                      </m:sub>
                    </m:sSub>
                  </m:oMath>
                </a14:m>
                <a:r>
                  <a:rPr lang="en-US" altLang="zh-CN" sz="800" dirty="0"/>
                  <a:t>-</a:t>
                </a:r>
                <a:r>
                  <a:rPr lang="zh-CN" altLang="zh-CN" sz="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𝑖𝑛𝑐</m:t>
                        </m:r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𝑠𝑙𝑜𝑝𝑒</m:t>
                        </m:r>
                      </m:sub>
                    </m:sSub>
                  </m:oMath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7016BA9-4CA0-4F02-8FC1-519EAB92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663" y="3045488"/>
                <a:ext cx="1298198" cy="225254"/>
              </a:xfrm>
              <a:prstGeom prst="rect">
                <a:avLst/>
              </a:prstGeom>
              <a:blipFill>
                <a:blip r:embed="rId4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文本框 112">
            <a:extLst>
              <a:ext uri="{FF2B5EF4-FFF2-40B4-BE49-F238E27FC236}">
                <a16:creationId xmlns:a16="http://schemas.microsoft.com/office/drawing/2014/main" id="{6C7D5F13-5E64-4F35-B0B5-E48F2E8E18E1}"/>
              </a:ext>
            </a:extLst>
          </p:cNvPr>
          <p:cNvSpPr txBox="1"/>
          <p:nvPr/>
        </p:nvSpPr>
        <p:spPr>
          <a:xfrm>
            <a:off x="3610278" y="3075064"/>
            <a:ext cx="1888049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FPCA and prototype clustering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E322886-0471-4CF4-9BD8-9E571750466E}"/>
              </a:ext>
            </a:extLst>
          </p:cNvPr>
          <p:cNvSpPr txBox="1"/>
          <p:nvPr/>
        </p:nvSpPr>
        <p:spPr>
          <a:xfrm>
            <a:off x="5565909" y="3083125"/>
            <a:ext cx="10482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fast-rise/fast-decay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31ACEA-E928-406E-A6AF-636BB0B7BCE3}"/>
              </a:ext>
            </a:extLst>
          </p:cNvPr>
          <p:cNvSpPr txBox="1"/>
          <p:nvPr/>
        </p:nvSpPr>
        <p:spPr>
          <a:xfrm>
            <a:off x="6530394" y="3090217"/>
            <a:ext cx="8181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steady/steady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EB5DBD0-E405-4141-A1C9-FA62094CAF73}"/>
              </a:ext>
            </a:extLst>
          </p:cNvPr>
          <p:cNvSpPr txBox="1"/>
          <p:nvPr/>
        </p:nvSpPr>
        <p:spPr>
          <a:xfrm>
            <a:off x="6315131" y="3727502"/>
            <a:ext cx="10932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multi-wave rebound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9E817AF-D832-418D-BD4C-874743E91B04}"/>
              </a:ext>
            </a:extLst>
          </p:cNvPr>
          <p:cNvSpPr txBox="1"/>
          <p:nvPr/>
        </p:nvSpPr>
        <p:spPr>
          <a:xfrm>
            <a:off x="5609938" y="3727502"/>
            <a:ext cx="6745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slow/slow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图形 119" descr="箭头: 直 纯色填充">
            <a:extLst>
              <a:ext uri="{FF2B5EF4-FFF2-40B4-BE49-F238E27FC236}">
                <a16:creationId xmlns:a16="http://schemas.microsoft.com/office/drawing/2014/main" id="{7B192E9E-DEF1-4068-92B7-B3701C3441F6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10800000">
            <a:off x="3528526" y="3587194"/>
            <a:ext cx="460004" cy="338801"/>
          </a:xfrm>
          <a:prstGeom prst="rect">
            <a:avLst/>
          </a:prstGeom>
        </p:spPr>
      </p:pic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3C732195-299B-4ED6-999F-EFFAEBED4FF0}"/>
              </a:ext>
            </a:extLst>
          </p:cNvPr>
          <p:cNvGrpSpPr/>
          <p:nvPr/>
        </p:nvGrpSpPr>
        <p:grpSpPr>
          <a:xfrm>
            <a:off x="1113825" y="4741239"/>
            <a:ext cx="1111851" cy="840688"/>
            <a:chOff x="1211697" y="4711983"/>
            <a:chExt cx="1111851" cy="840688"/>
          </a:xfrm>
        </p:grpSpPr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BF26F88B-3D53-4FCA-9801-EAADD8AE805D}"/>
                </a:ext>
              </a:extLst>
            </p:cNvPr>
            <p:cNvGrpSpPr/>
            <p:nvPr/>
          </p:nvGrpSpPr>
          <p:grpSpPr>
            <a:xfrm>
              <a:off x="1211697" y="4788191"/>
              <a:ext cx="1111851" cy="764480"/>
              <a:chOff x="932787" y="4763900"/>
              <a:chExt cx="1111851" cy="764480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E3A22B5A-3973-4DE2-992D-AEA1A0556532}"/>
                  </a:ext>
                </a:extLst>
              </p:cNvPr>
              <p:cNvGrpSpPr/>
              <p:nvPr/>
            </p:nvGrpSpPr>
            <p:grpSpPr>
              <a:xfrm>
                <a:off x="932787" y="4900975"/>
                <a:ext cx="914589" cy="230832"/>
                <a:chOff x="1933494" y="4920898"/>
                <a:chExt cx="914589" cy="230832"/>
              </a:xfrm>
            </p:grpSpPr>
            <p:sp>
              <p:nvSpPr>
                <p:cNvPr id="132" name="c_icon_Climate">
                  <a:extLst>
                    <a:ext uri="{FF2B5EF4-FFF2-40B4-BE49-F238E27FC236}">
                      <a16:creationId xmlns:a16="http://schemas.microsoft.com/office/drawing/2014/main" id="{B40A02DD-2A65-4352-A9A4-4EC27B5520FF}"/>
                    </a:ext>
                  </a:extLst>
                </p:cNvPr>
                <p:cNvSpPr/>
                <p:nvPr/>
              </p:nvSpPr>
              <p:spPr>
                <a:xfrm>
                  <a:off x="2116954" y="4959714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9DF08C84-127F-4256-BA57-151D71F6C7F4}"/>
                    </a:ext>
                  </a:extLst>
                </p:cNvPr>
                <p:cNvSpPr txBox="1"/>
                <p:nvPr/>
              </p:nvSpPr>
              <p:spPr>
                <a:xfrm>
                  <a:off x="1933494" y="4920898"/>
                  <a:ext cx="914589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Mobility</a:t>
                  </a:r>
                </a:p>
              </p:txBody>
            </p:sp>
          </p:grpSp>
          <p:grpSp>
            <p:nvGrpSpPr>
              <p:cNvPr id="137" name="组合 136">
                <a:extLst>
                  <a:ext uri="{FF2B5EF4-FFF2-40B4-BE49-F238E27FC236}">
                    <a16:creationId xmlns:a16="http://schemas.microsoft.com/office/drawing/2014/main" id="{9C4C28DB-F5F0-4212-9AFB-98353ECF9B11}"/>
                  </a:ext>
                </a:extLst>
              </p:cNvPr>
              <p:cNvGrpSpPr/>
              <p:nvPr/>
            </p:nvGrpSpPr>
            <p:grpSpPr>
              <a:xfrm>
                <a:off x="1046525" y="5297548"/>
                <a:ext cx="687112" cy="230832"/>
                <a:chOff x="1071727" y="4603973"/>
                <a:chExt cx="687112" cy="230832"/>
              </a:xfrm>
            </p:grpSpPr>
            <p:sp>
              <p:nvSpPr>
                <p:cNvPr id="123" name="c_icon_Climate">
                  <a:extLst>
                    <a:ext uri="{FF2B5EF4-FFF2-40B4-BE49-F238E27FC236}">
                      <a16:creationId xmlns:a16="http://schemas.microsoft.com/office/drawing/2014/main" id="{096A9B8E-9443-43C9-8727-1A44B6D6F4DF}"/>
                    </a:ext>
                  </a:extLst>
                </p:cNvPr>
                <p:cNvSpPr/>
                <p:nvPr/>
              </p:nvSpPr>
              <p:spPr>
                <a:xfrm>
                  <a:off x="1150994" y="4641260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1E311953-8AFB-421D-ABE2-01AE8A382A43}"/>
                    </a:ext>
                  </a:extLst>
                </p:cNvPr>
                <p:cNvSpPr txBox="1"/>
                <p:nvPr/>
              </p:nvSpPr>
              <p:spPr>
                <a:xfrm>
                  <a:off x="1071727" y="4603973"/>
                  <a:ext cx="687112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Tourism</a:t>
                  </a:r>
                </a:p>
              </p:txBody>
            </p:sp>
          </p:grp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4AA790D5-C173-4E03-B10C-8E62F9A875AE}"/>
                  </a:ext>
                </a:extLst>
              </p:cNvPr>
              <p:cNvGrpSpPr/>
              <p:nvPr/>
            </p:nvGrpSpPr>
            <p:grpSpPr>
              <a:xfrm>
                <a:off x="1230296" y="5180475"/>
                <a:ext cx="756603" cy="230832"/>
                <a:chOff x="2313549" y="4594992"/>
                <a:chExt cx="756603" cy="230832"/>
              </a:xfrm>
            </p:grpSpPr>
            <p:sp>
              <p:nvSpPr>
                <p:cNvPr id="125" name="c_icon_Climate">
                  <a:extLst>
                    <a:ext uri="{FF2B5EF4-FFF2-40B4-BE49-F238E27FC236}">
                      <a16:creationId xmlns:a16="http://schemas.microsoft.com/office/drawing/2014/main" id="{1349D787-36B6-40C5-9404-A299E340E635}"/>
                    </a:ext>
                  </a:extLst>
                </p:cNvPr>
                <p:cNvSpPr/>
                <p:nvPr/>
              </p:nvSpPr>
              <p:spPr>
                <a:xfrm>
                  <a:off x="2414326" y="4649678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26937D9-344C-45A5-974D-5D743FFA8D93}"/>
                    </a:ext>
                  </a:extLst>
                </p:cNvPr>
                <p:cNvSpPr txBox="1"/>
                <p:nvPr/>
              </p:nvSpPr>
              <p:spPr>
                <a:xfrm>
                  <a:off x="2313549" y="4594992"/>
                  <a:ext cx="756603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Healthcare</a:t>
                  </a:r>
                </a:p>
              </p:txBody>
            </p:sp>
          </p:grpSp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043523D9-3655-4033-A2B2-45EFE63EC553}"/>
                  </a:ext>
                </a:extLst>
              </p:cNvPr>
              <p:cNvGrpSpPr/>
              <p:nvPr/>
            </p:nvGrpSpPr>
            <p:grpSpPr>
              <a:xfrm>
                <a:off x="1130049" y="4763900"/>
                <a:ext cx="914589" cy="230832"/>
                <a:chOff x="2567796" y="4920899"/>
                <a:chExt cx="914589" cy="230832"/>
              </a:xfrm>
            </p:grpSpPr>
            <p:sp>
              <p:nvSpPr>
                <p:cNvPr id="133" name="c_icon_Climate">
                  <a:extLst>
                    <a:ext uri="{FF2B5EF4-FFF2-40B4-BE49-F238E27FC236}">
                      <a16:creationId xmlns:a16="http://schemas.microsoft.com/office/drawing/2014/main" id="{020A5983-DEE8-40AB-AD51-B0468E889CE1}"/>
                    </a:ext>
                  </a:extLst>
                </p:cNvPr>
                <p:cNvSpPr/>
                <p:nvPr/>
              </p:nvSpPr>
              <p:spPr>
                <a:xfrm>
                  <a:off x="2760522" y="4963429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987536A5-4527-4BF4-88A2-60109CF0445C}"/>
                    </a:ext>
                  </a:extLst>
                </p:cNvPr>
                <p:cNvSpPr txBox="1"/>
                <p:nvPr/>
              </p:nvSpPr>
              <p:spPr>
                <a:xfrm>
                  <a:off x="2567796" y="4920899"/>
                  <a:ext cx="914589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Population</a:t>
                  </a:r>
                </a:p>
              </p:txBody>
            </p:sp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CD02E5BF-14FE-43F8-ACE9-00BE1304B70E}"/>
                  </a:ext>
                </a:extLst>
              </p:cNvPr>
              <p:cNvGrpSpPr/>
              <p:nvPr/>
            </p:nvGrpSpPr>
            <p:grpSpPr>
              <a:xfrm>
                <a:off x="1227549" y="4980739"/>
                <a:ext cx="778432" cy="230832"/>
                <a:chOff x="2932946" y="4594992"/>
                <a:chExt cx="778432" cy="230832"/>
              </a:xfrm>
            </p:grpSpPr>
            <p:sp>
              <p:nvSpPr>
                <p:cNvPr id="126" name="c_icon_Climate">
                  <a:extLst>
                    <a:ext uri="{FF2B5EF4-FFF2-40B4-BE49-F238E27FC236}">
                      <a16:creationId xmlns:a16="http://schemas.microsoft.com/office/drawing/2014/main" id="{4636FE36-F580-48F2-8BD5-A412E608800C}"/>
                    </a:ext>
                  </a:extLst>
                </p:cNvPr>
                <p:cNvSpPr/>
                <p:nvPr/>
              </p:nvSpPr>
              <p:spPr>
                <a:xfrm>
                  <a:off x="3037523" y="4648867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74FDE0C-1761-4A10-89D1-ED5B0A6BC07E}"/>
                    </a:ext>
                  </a:extLst>
                </p:cNvPr>
                <p:cNvSpPr txBox="1"/>
                <p:nvPr/>
              </p:nvSpPr>
              <p:spPr>
                <a:xfrm>
                  <a:off x="2932946" y="4594992"/>
                  <a:ext cx="778432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Economy</a:t>
                  </a:r>
                </a:p>
              </p:txBody>
            </p:sp>
          </p:grpSp>
          <p:grpSp>
            <p:nvGrpSpPr>
              <p:cNvPr id="140" name="组合 139">
                <a:extLst>
                  <a:ext uri="{FF2B5EF4-FFF2-40B4-BE49-F238E27FC236}">
                    <a16:creationId xmlns:a16="http://schemas.microsoft.com/office/drawing/2014/main" id="{10B4D43D-9AFC-4663-ADE6-94B028B8D367}"/>
                  </a:ext>
                </a:extLst>
              </p:cNvPr>
              <p:cNvGrpSpPr/>
              <p:nvPr/>
            </p:nvGrpSpPr>
            <p:grpSpPr>
              <a:xfrm>
                <a:off x="1042764" y="5095782"/>
                <a:ext cx="651120" cy="230832"/>
                <a:chOff x="1408758" y="4903001"/>
                <a:chExt cx="651120" cy="230832"/>
              </a:xfrm>
            </p:grpSpPr>
            <p:sp>
              <p:nvSpPr>
                <p:cNvPr id="131" name="c_icon_Climate">
                  <a:extLst>
                    <a:ext uri="{FF2B5EF4-FFF2-40B4-BE49-F238E27FC236}">
                      <a16:creationId xmlns:a16="http://schemas.microsoft.com/office/drawing/2014/main" id="{5228EF7C-16CE-445B-AF39-124E18C468D9}"/>
                    </a:ext>
                  </a:extLst>
                </p:cNvPr>
                <p:cNvSpPr/>
                <p:nvPr/>
              </p:nvSpPr>
              <p:spPr>
                <a:xfrm>
                  <a:off x="1473387" y="4945670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180A0122-7D98-41DE-9F08-33A0DA792BD2}"/>
                    </a:ext>
                  </a:extLst>
                </p:cNvPr>
                <p:cNvSpPr txBox="1"/>
                <p:nvPr/>
              </p:nvSpPr>
              <p:spPr>
                <a:xfrm>
                  <a:off x="1408758" y="4903001"/>
                  <a:ext cx="65112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Climate</a:t>
                  </a:r>
                </a:p>
              </p:txBody>
            </p:sp>
          </p:grp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08DCBFD8-E882-40A0-B85A-482F724FC3BD}"/>
                </a:ext>
              </a:extLst>
            </p:cNvPr>
            <p:cNvGrpSpPr/>
            <p:nvPr/>
          </p:nvGrpSpPr>
          <p:grpSpPr>
            <a:xfrm>
              <a:off x="1261579" y="4711983"/>
              <a:ext cx="884075" cy="230832"/>
              <a:chOff x="-272259" y="4503074"/>
              <a:chExt cx="884075" cy="230832"/>
            </a:xfrm>
          </p:grpSpPr>
          <p:sp>
            <p:nvSpPr>
              <p:cNvPr id="124" name="c_icon_Climate">
                <a:extLst>
                  <a:ext uri="{FF2B5EF4-FFF2-40B4-BE49-F238E27FC236}">
                    <a16:creationId xmlns:a16="http://schemas.microsoft.com/office/drawing/2014/main" id="{BDC107D3-4C4B-4EBD-B2D5-541ADC6BD84C}"/>
                  </a:ext>
                </a:extLst>
              </p:cNvPr>
              <p:cNvSpPr/>
              <p:nvPr/>
            </p:nvSpPr>
            <p:spPr>
              <a:xfrm>
                <a:off x="-120997" y="4544962"/>
                <a:ext cx="554002" cy="141442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C8CD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4CAD05DA-F0BD-444E-9374-3FBF52E5D866}"/>
                  </a:ext>
                </a:extLst>
              </p:cNvPr>
              <p:cNvSpPr txBox="1"/>
              <p:nvPr/>
            </p:nvSpPr>
            <p:spPr>
              <a:xfrm>
                <a:off x="-272259" y="4503074"/>
                <a:ext cx="8840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altLang="zh-CN" sz="900" dirty="0">
                    <a:solidFill>
                      <a:schemeClr val="accent5">
                        <a:lumMod val="75000"/>
                      </a:schemeClr>
                    </a:solidFill>
                  </a:rPr>
                  <a:t>Urbanicity</a:t>
                </a:r>
              </a:p>
            </p:txBody>
          </p:sp>
        </p:grpSp>
      </p:grpSp>
      <p:sp>
        <p:nvSpPr>
          <p:cNvPr id="144" name="c_targets_text">
            <a:extLst>
              <a:ext uri="{FF2B5EF4-FFF2-40B4-BE49-F238E27FC236}">
                <a16:creationId xmlns:a16="http://schemas.microsoft.com/office/drawing/2014/main" id="{601AB31A-53DD-48E0-BABF-8962F83AC374}"/>
              </a:ext>
            </a:extLst>
          </p:cNvPr>
          <p:cNvSpPr txBox="1"/>
          <p:nvPr/>
        </p:nvSpPr>
        <p:spPr>
          <a:xfrm>
            <a:off x="1104785" y="4575455"/>
            <a:ext cx="12560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262A"/>
                </a:solidFill>
              </a:defRPr>
            </a:pPr>
            <a:r>
              <a:rPr sz="900" dirty="0"/>
              <a:t>Morphology</a:t>
            </a:r>
            <a:r>
              <a:rPr lang="en-US" sz="900" dirty="0"/>
              <a:t> </a:t>
            </a:r>
            <a:r>
              <a:rPr sz="900" dirty="0"/>
              <a:t>targets</a:t>
            </a:r>
          </a:p>
        </p:txBody>
      </p:sp>
      <p:sp>
        <p:nvSpPr>
          <p:cNvPr id="149" name="c_hbm_box">
            <a:extLst>
              <a:ext uri="{FF2B5EF4-FFF2-40B4-BE49-F238E27FC236}">
                <a16:creationId xmlns:a16="http://schemas.microsoft.com/office/drawing/2014/main" id="{9EE6C99A-BE48-4B5F-A7D6-196FC6839F54}"/>
              </a:ext>
            </a:extLst>
          </p:cNvPr>
          <p:cNvSpPr/>
          <p:nvPr/>
        </p:nvSpPr>
        <p:spPr>
          <a:xfrm>
            <a:off x="2404395" y="4821424"/>
            <a:ext cx="857375" cy="50790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</a:t>
            </a:r>
            <a:b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Bayesian</a:t>
            </a:r>
            <a:b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</p:txBody>
      </p:sp>
      <p:pic>
        <p:nvPicPr>
          <p:cNvPr id="156" name="图片 155">
            <a:extLst>
              <a:ext uri="{FF2B5EF4-FFF2-40B4-BE49-F238E27FC236}">
                <a16:creationId xmlns:a16="http://schemas.microsoft.com/office/drawing/2014/main" id="{D50EBB4E-F976-4741-BE5D-B083498CF9D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98904" y="4575455"/>
            <a:ext cx="1402682" cy="843571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1887DD1F-7629-4BB1-B56C-A8BF28D1C246}"/>
              </a:ext>
            </a:extLst>
          </p:cNvPr>
          <p:cNvSpPr txBox="1"/>
          <p:nvPr/>
        </p:nvSpPr>
        <p:spPr>
          <a:xfrm>
            <a:off x="3463052" y="5430150"/>
            <a:ext cx="1730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Fix effect across targets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7E387AF9-431A-44CB-BDCE-F3DFD44CF7B3}"/>
              </a:ext>
            </a:extLst>
          </p:cNvPr>
          <p:cNvSpPr txBox="1"/>
          <p:nvPr/>
        </p:nvSpPr>
        <p:spPr>
          <a:xfrm>
            <a:off x="5293513" y="5315753"/>
            <a:ext cx="200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2">
                    <a:lumMod val="25000"/>
                  </a:schemeClr>
                </a:solidFill>
              </a:rPr>
              <a:t>Delta, high-context settings exhibit later, broader mobilization</a:t>
            </a:r>
            <a:r>
              <a:rPr lang="en-GB" altLang="zh-CN" sz="9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9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zh-CN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64F4A3C3-33DC-4ED2-83DF-2CB72B8F5DF2}"/>
              </a:ext>
            </a:extLst>
          </p:cNvPr>
          <p:cNvSpPr txBox="1"/>
          <p:nvPr/>
        </p:nvSpPr>
        <p:spPr>
          <a:xfrm>
            <a:off x="1382156" y="6970567"/>
            <a:ext cx="1389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Timing beats intensity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2" name="图片 171">
            <a:extLst>
              <a:ext uri="{FF2B5EF4-FFF2-40B4-BE49-F238E27FC236}">
                <a16:creationId xmlns:a16="http://schemas.microsoft.com/office/drawing/2014/main" id="{14FFC18F-0310-4C54-9D8C-95D670CEEFF6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93114" y="6080346"/>
            <a:ext cx="1825941" cy="891890"/>
          </a:xfrm>
          <a:prstGeom prst="rect">
            <a:avLst/>
          </a:prstGeom>
        </p:spPr>
      </p:pic>
      <p:sp>
        <p:nvSpPr>
          <p:cNvPr id="173" name="文本框 172">
            <a:extLst>
              <a:ext uri="{FF2B5EF4-FFF2-40B4-BE49-F238E27FC236}">
                <a16:creationId xmlns:a16="http://schemas.microsoft.com/office/drawing/2014/main" id="{D518AC9C-A181-44C1-84AE-76DA2E80F98B}"/>
              </a:ext>
            </a:extLst>
          </p:cNvPr>
          <p:cNvSpPr txBox="1"/>
          <p:nvPr/>
        </p:nvSpPr>
        <p:spPr>
          <a:xfrm>
            <a:off x="3184638" y="6091611"/>
            <a:ext cx="160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Level ≠ Progress</a:t>
            </a:r>
          </a:p>
          <a:p>
            <a:endParaRPr lang="en-US" altLang="zh-CN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East-high/west-low with exceptions</a:t>
            </a:r>
          </a:p>
          <a:p>
            <a:endParaRPr lang="en-US" altLang="zh-CN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Different winners for LPI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F3E01A22-EDA8-4736-82A8-1EFAB971FE21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742051" y="5975096"/>
            <a:ext cx="1261572" cy="1210191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D6EE05A4-5E86-4FD1-9B2C-632892627839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29470" y="6005675"/>
            <a:ext cx="1275597" cy="121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F8B27F4-BCA5-8447-97BE-614F54D71B31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H="1" flipV="1">
            <a:off x="2180660" y="4140392"/>
            <a:ext cx="690772" cy="399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B93D6041-C4B6-ADBE-D782-170332E43FD8}"/>
              </a:ext>
            </a:extLst>
          </p:cNvPr>
          <p:cNvCxnSpPr>
            <a:cxnSpLocks/>
            <a:stCxn id="11" idx="3"/>
            <a:endCxn id="61" idx="2"/>
          </p:cNvCxnSpPr>
          <p:nvPr/>
        </p:nvCxnSpPr>
        <p:spPr>
          <a:xfrm flipV="1">
            <a:off x="2836300" y="3382766"/>
            <a:ext cx="644562" cy="28482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流程图: 接点 93">
                <a:extLst>
                  <a:ext uri="{FF2B5EF4-FFF2-40B4-BE49-F238E27FC236}">
                    <a16:creationId xmlns:a16="http://schemas.microsoft.com/office/drawing/2014/main" id="{8E4888A9-2750-DF6F-F83F-2D326533DDCF}"/>
                  </a:ext>
                </a:extLst>
              </p:cNvPr>
              <p:cNvSpPr/>
              <p:nvPr/>
            </p:nvSpPr>
            <p:spPr>
              <a:xfrm>
                <a:off x="4191104" y="3151970"/>
                <a:ext cx="532935" cy="553429"/>
              </a:xfrm>
              <a:prstGeom prst="flowChartConnector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34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CN" sz="1534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534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534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2384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流程图: 接点 93">
                <a:extLst>
                  <a:ext uri="{FF2B5EF4-FFF2-40B4-BE49-F238E27FC236}">
                    <a16:creationId xmlns:a16="http://schemas.microsoft.com/office/drawing/2014/main" id="{8E4888A9-2750-DF6F-F83F-2D326533DD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104" y="3151970"/>
                <a:ext cx="532935" cy="553429"/>
              </a:xfrm>
              <a:prstGeom prst="flowChartConnector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46FA478-833D-D480-8387-40F02C7665F2}"/>
              </a:ext>
            </a:extLst>
          </p:cNvPr>
          <p:cNvGrpSpPr/>
          <p:nvPr/>
        </p:nvGrpSpPr>
        <p:grpSpPr>
          <a:xfrm>
            <a:off x="5051529" y="2969115"/>
            <a:ext cx="1238357" cy="1100089"/>
            <a:chOff x="6813979" y="2119362"/>
            <a:chExt cx="3266509" cy="2908570"/>
          </a:xfrm>
        </p:grpSpPr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576507C4-D6CE-658C-6D77-50BD05C25EEE}"/>
                </a:ext>
              </a:extLst>
            </p:cNvPr>
            <p:cNvSpPr/>
            <p:nvPr/>
          </p:nvSpPr>
          <p:spPr>
            <a:xfrm>
              <a:off x="6813979" y="2119362"/>
              <a:ext cx="3266509" cy="290857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  <a:p>
              <a:pPr algn="ctr">
                <a:lnSpc>
                  <a:spcPts val="426"/>
                </a:lnSpc>
              </a:pPr>
              <a:endParaRPr lang="en-US" altLang="zh-CN" sz="3407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矩形: 圆角 110">
                  <a:extLst>
                    <a:ext uri="{FF2B5EF4-FFF2-40B4-BE49-F238E27FC236}">
                      <a16:creationId xmlns:a16="http://schemas.microsoft.com/office/drawing/2014/main" id="{1A0BE632-88A1-DF85-9416-685B369E1C60}"/>
                    </a:ext>
                  </a:extLst>
                </p:cNvPr>
                <p:cNvSpPr/>
                <p:nvPr/>
              </p:nvSpPr>
              <p:spPr>
                <a:xfrm>
                  <a:off x="7139169" y="2889825"/>
                  <a:ext cx="2814998" cy="1277037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534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𝑝h𝑦𝑠𝑖𝑐</m:t>
                        </m:r>
                        <m:r>
                          <a:rPr lang="en-US" altLang="zh-CN" sz="1534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534" b="0" i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</m:oMath>
                    </m:oMathPara>
                  </a14:m>
                  <a:endParaRPr lang="zh-CN" altLang="en-US" sz="1534" dirty="0">
                    <a:solidFill>
                      <a:schemeClr val="tx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矩形: 圆角 110">
                  <a:extLst>
                    <a:ext uri="{FF2B5EF4-FFF2-40B4-BE49-F238E27FC236}">
                      <a16:creationId xmlns:a16="http://schemas.microsoft.com/office/drawing/2014/main" id="{1A0BE632-88A1-DF85-9416-685B369E1C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9169" y="2889825"/>
                  <a:ext cx="2814998" cy="1277037"/>
                </a:xfrm>
                <a:prstGeom prst="roundRect">
                  <a:avLst/>
                </a:prstGeom>
                <a:blipFill>
                  <a:blip r:embed="rId3"/>
                  <a:stretch>
                    <a:fillRect l="-571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373A0DBB-D38A-1087-03A8-BA609BD9C7FA}"/>
              </a:ext>
            </a:extLst>
          </p:cNvPr>
          <p:cNvCxnSpPr>
            <a:cxnSpLocks/>
            <a:stCxn id="94" idx="6"/>
            <a:endCxn id="105" idx="1"/>
          </p:cNvCxnSpPr>
          <p:nvPr/>
        </p:nvCxnSpPr>
        <p:spPr>
          <a:xfrm>
            <a:off x="4724039" y="3428685"/>
            <a:ext cx="327490" cy="90475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流程图: 接点 138">
                <a:extLst>
                  <a:ext uri="{FF2B5EF4-FFF2-40B4-BE49-F238E27FC236}">
                    <a16:creationId xmlns:a16="http://schemas.microsoft.com/office/drawing/2014/main" id="{54D54F12-8ACB-616E-DEE1-F85576C28476}"/>
                  </a:ext>
                </a:extLst>
              </p:cNvPr>
              <p:cNvSpPr/>
              <p:nvPr/>
            </p:nvSpPr>
            <p:spPr>
              <a:xfrm>
                <a:off x="6443510" y="3178866"/>
                <a:ext cx="624299" cy="656386"/>
              </a:xfrm>
              <a:prstGeom prst="flowChartConnector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702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702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</m:oMath>
                  </m:oMathPara>
                </a14:m>
                <a:endParaRPr lang="zh-CN" altLang="en-US" sz="2384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9" name="流程图: 接点 138">
                <a:extLst>
                  <a:ext uri="{FF2B5EF4-FFF2-40B4-BE49-F238E27FC236}">
                    <a16:creationId xmlns:a16="http://schemas.microsoft.com/office/drawing/2014/main" id="{54D54F12-8ACB-616E-DEE1-F85576C284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510" y="3178866"/>
                <a:ext cx="624299" cy="656386"/>
              </a:xfrm>
              <a:prstGeom prst="flowChartConnector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83D466A8-0AB8-F433-2FC8-529C0B646F96}"/>
              </a:ext>
            </a:extLst>
          </p:cNvPr>
          <p:cNvCxnSpPr>
            <a:cxnSpLocks/>
            <a:stCxn id="111" idx="3"/>
            <a:endCxn id="139" idx="2"/>
          </p:cNvCxnSpPr>
          <p:nvPr/>
        </p:nvCxnSpPr>
        <p:spPr>
          <a:xfrm>
            <a:off x="6241997" y="3502025"/>
            <a:ext cx="201513" cy="5034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F07736C9-57B1-409E-BB2B-8C1F024DD96D}"/>
              </a:ext>
            </a:extLst>
          </p:cNvPr>
          <p:cNvCxnSpPr>
            <a:cxnSpLocks/>
            <a:stCxn id="11" idx="3"/>
            <a:endCxn id="411" idx="2"/>
          </p:cNvCxnSpPr>
          <p:nvPr/>
        </p:nvCxnSpPr>
        <p:spPr>
          <a:xfrm>
            <a:off x="2836300" y="3411248"/>
            <a:ext cx="642276" cy="788057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0653417-B16F-3B31-FCE5-B8A52AF40662}"/>
              </a:ext>
            </a:extLst>
          </p:cNvPr>
          <p:cNvCxnSpPr>
            <a:cxnSpLocks/>
            <a:stCxn id="11" idx="3"/>
            <a:endCxn id="311" idx="2"/>
          </p:cNvCxnSpPr>
          <p:nvPr/>
        </p:nvCxnSpPr>
        <p:spPr>
          <a:xfrm>
            <a:off x="2836300" y="3411248"/>
            <a:ext cx="642276" cy="372176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连接符: 肘形 314">
            <a:extLst>
              <a:ext uri="{FF2B5EF4-FFF2-40B4-BE49-F238E27FC236}">
                <a16:creationId xmlns:a16="http://schemas.microsoft.com/office/drawing/2014/main" id="{4C2A00CC-5CE1-403C-8851-A6D96E26DCE0}"/>
              </a:ext>
            </a:extLst>
          </p:cNvPr>
          <p:cNvCxnSpPr>
            <a:cxnSpLocks/>
            <a:stCxn id="410" idx="5"/>
            <a:endCxn id="139" idx="4"/>
          </p:cNvCxnSpPr>
          <p:nvPr/>
        </p:nvCxnSpPr>
        <p:spPr>
          <a:xfrm flipV="1">
            <a:off x="5411118" y="3835252"/>
            <a:ext cx="1344542" cy="548576"/>
          </a:xfrm>
          <a:prstGeom prst="bentConnector2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4" name="组合 363">
            <a:extLst>
              <a:ext uri="{FF2B5EF4-FFF2-40B4-BE49-F238E27FC236}">
                <a16:creationId xmlns:a16="http://schemas.microsoft.com/office/drawing/2014/main" id="{97DCDCCC-699C-4DED-A1CE-65189957791E}"/>
              </a:ext>
            </a:extLst>
          </p:cNvPr>
          <p:cNvGrpSpPr/>
          <p:nvPr/>
        </p:nvGrpSpPr>
        <p:grpSpPr>
          <a:xfrm>
            <a:off x="1551317" y="4456946"/>
            <a:ext cx="3685618" cy="531642"/>
            <a:chOff x="1136561" y="4765679"/>
            <a:chExt cx="2765382" cy="655907"/>
          </a:xfrm>
        </p:grpSpPr>
        <p:sp>
          <p:nvSpPr>
            <p:cNvPr id="334" name="矩形: 圆角 333">
              <a:extLst>
                <a:ext uri="{FF2B5EF4-FFF2-40B4-BE49-F238E27FC236}">
                  <a16:creationId xmlns:a16="http://schemas.microsoft.com/office/drawing/2014/main" id="{7F775343-C78B-4EA9-A406-85413B619E0B}"/>
                </a:ext>
              </a:extLst>
            </p:cNvPr>
            <p:cNvSpPr/>
            <p:nvPr/>
          </p:nvSpPr>
          <p:spPr>
            <a:xfrm>
              <a:off x="1136561" y="4809177"/>
              <a:ext cx="2765382" cy="612409"/>
            </a:xfrm>
            <a:prstGeom prst="roundRect">
              <a:avLst/>
            </a:prstGeom>
            <a:solidFill>
              <a:schemeClr val="accent1">
                <a:alpha val="10000"/>
              </a:schemeClr>
            </a:solidFill>
            <a:ln w="25400"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400" b="1" i="1" dirty="0">
                  <a:solidFill>
                    <a:schemeClr val="tx1"/>
                  </a:solidFill>
                </a:rPr>
                <a:t>Input  </a:t>
              </a:r>
              <a:r>
                <a:rPr lang="en-US" altLang="zh-CN" sz="1600" b="1" i="1" dirty="0">
                  <a:solidFill>
                    <a:srgbClr val="0070C0"/>
                  </a:solidFill>
                </a:rPr>
                <a:t>             </a:t>
              </a:r>
              <a:r>
                <a:rPr lang="en-US" altLang="zh-CN" sz="1100" b="1" i="1" dirty="0">
                  <a:solidFill>
                    <a:srgbClr val="0070C0"/>
                  </a:solidFill>
                </a:rPr>
                <a:t>   </a:t>
              </a:r>
              <a:r>
                <a:rPr lang="en-US" altLang="zh-CN" sz="1600" b="1" i="1" dirty="0">
                  <a:solidFill>
                    <a:srgbClr val="0070C0"/>
                  </a:solidFill>
                </a:rPr>
                <a:t>                  </a:t>
              </a:r>
              <a:endParaRPr lang="zh-CN" altLang="en-US" sz="16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333" name="图形 332" descr="心跳 纯色填充">
              <a:extLst>
                <a:ext uri="{FF2B5EF4-FFF2-40B4-BE49-F238E27FC236}">
                  <a16:creationId xmlns:a16="http://schemas.microsoft.com/office/drawing/2014/main" id="{C12CE80B-5E4E-4717-95BD-EEA1CEF22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58461" y="4765679"/>
              <a:ext cx="494465" cy="591300"/>
            </a:xfrm>
            <a:prstGeom prst="rect">
              <a:avLst/>
            </a:prstGeom>
          </p:spPr>
        </p:pic>
      </p:grpSp>
      <p:grpSp>
        <p:nvGrpSpPr>
          <p:cNvPr id="409" name="组合 408">
            <a:extLst>
              <a:ext uri="{FF2B5EF4-FFF2-40B4-BE49-F238E27FC236}">
                <a16:creationId xmlns:a16="http://schemas.microsoft.com/office/drawing/2014/main" id="{EE427A50-175D-4892-8BC2-9C5D88B2B5FB}"/>
              </a:ext>
            </a:extLst>
          </p:cNvPr>
          <p:cNvGrpSpPr/>
          <p:nvPr/>
        </p:nvGrpSpPr>
        <p:grpSpPr>
          <a:xfrm>
            <a:off x="1525020" y="2682104"/>
            <a:ext cx="1311280" cy="1458288"/>
            <a:chOff x="1231612" y="2298151"/>
            <a:chExt cx="1517249" cy="1810509"/>
          </a:xfrm>
        </p:grpSpPr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C59A830F-8139-F755-C7C3-A3F2EA660674}"/>
                </a:ext>
              </a:extLst>
            </p:cNvPr>
            <p:cNvGrpSpPr/>
            <p:nvPr/>
          </p:nvGrpSpPr>
          <p:grpSpPr>
            <a:xfrm>
              <a:off x="1231612" y="2298151"/>
              <a:ext cx="1517249" cy="1810509"/>
              <a:chOff x="2368965" y="1780739"/>
              <a:chExt cx="1781667" cy="2126036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11A06477-441C-CC6B-9C92-265E98C9F3F1}"/>
                  </a:ext>
                </a:extLst>
              </p:cNvPr>
              <p:cNvGrpSpPr/>
              <p:nvPr/>
            </p:nvGrpSpPr>
            <p:grpSpPr>
              <a:xfrm>
                <a:off x="2368965" y="1780739"/>
                <a:ext cx="1781667" cy="2126036"/>
                <a:chOff x="2347273" y="1833120"/>
                <a:chExt cx="1781667" cy="2126036"/>
              </a:xfrm>
            </p:grpSpPr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42075A1C-9476-25CB-07DC-C22F3A6C97CD}"/>
                    </a:ext>
                  </a:extLst>
                </p:cNvPr>
                <p:cNvSpPr/>
                <p:nvPr/>
              </p:nvSpPr>
              <p:spPr>
                <a:xfrm>
                  <a:off x="2347273" y="1833120"/>
                  <a:ext cx="1781667" cy="2126036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10800000" scaled="1"/>
                  <a:tileRect/>
                </a:gradFill>
              </p:spPr>
              <p:style>
                <a:lnRef idx="3">
                  <a:schemeClr val="lt1"/>
                </a:lnRef>
                <a:fillRef idx="1">
                  <a:schemeClr val="accent2"/>
                </a:fillRef>
                <a:effectRef idx="1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/>
                </a:p>
              </p:txBody>
            </p:sp>
            <p:sp>
              <p:nvSpPr>
                <p:cNvPr id="13" name="流程图: 接点 12">
                  <a:extLst>
                    <a:ext uri="{FF2B5EF4-FFF2-40B4-BE49-F238E27FC236}">
                      <a16:creationId xmlns:a16="http://schemas.microsoft.com/office/drawing/2014/main" id="{C9B5AC93-9225-D878-B7B8-7CF2C497B374}"/>
                    </a:ext>
                  </a:extLst>
                </p:cNvPr>
                <p:cNvSpPr/>
                <p:nvPr/>
              </p:nvSpPr>
              <p:spPr>
                <a:xfrm>
                  <a:off x="2502581" y="3064213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 dirty="0"/>
                </a:p>
              </p:txBody>
            </p:sp>
            <p:sp>
              <p:nvSpPr>
                <p:cNvPr id="14" name="流程图: 接点 13">
                  <a:extLst>
                    <a:ext uri="{FF2B5EF4-FFF2-40B4-BE49-F238E27FC236}">
                      <a16:creationId xmlns:a16="http://schemas.microsoft.com/office/drawing/2014/main" id="{0033E5C5-5743-0931-297F-5F7346DBB9B3}"/>
                    </a:ext>
                  </a:extLst>
                </p:cNvPr>
                <p:cNvSpPr/>
                <p:nvPr/>
              </p:nvSpPr>
              <p:spPr>
                <a:xfrm>
                  <a:off x="2509734" y="2599640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 dirty="0"/>
                </a:p>
              </p:txBody>
            </p:sp>
            <p:sp>
              <p:nvSpPr>
                <p:cNvPr id="15" name="流程图: 接点 14">
                  <a:extLst>
                    <a:ext uri="{FF2B5EF4-FFF2-40B4-BE49-F238E27FC236}">
                      <a16:creationId xmlns:a16="http://schemas.microsoft.com/office/drawing/2014/main" id="{EFD3F11E-7AA6-1361-E92B-BFB172290CFF}"/>
                    </a:ext>
                  </a:extLst>
                </p:cNvPr>
                <p:cNvSpPr/>
                <p:nvPr/>
              </p:nvSpPr>
              <p:spPr>
                <a:xfrm>
                  <a:off x="3055977" y="2246725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 dirty="0"/>
                </a:p>
              </p:txBody>
            </p:sp>
            <p:sp>
              <p:nvSpPr>
                <p:cNvPr id="16" name="流程图: 接点 15">
                  <a:extLst>
                    <a:ext uri="{FF2B5EF4-FFF2-40B4-BE49-F238E27FC236}">
                      <a16:creationId xmlns:a16="http://schemas.microsoft.com/office/drawing/2014/main" id="{3A343D60-A475-D721-0AA1-2CF623005FEE}"/>
                    </a:ext>
                  </a:extLst>
                </p:cNvPr>
                <p:cNvSpPr/>
                <p:nvPr/>
              </p:nvSpPr>
              <p:spPr>
                <a:xfrm>
                  <a:off x="3055976" y="2847254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 dirty="0"/>
                </a:p>
              </p:txBody>
            </p:sp>
            <p:sp>
              <p:nvSpPr>
                <p:cNvPr id="17" name="流程图: 接点 16">
                  <a:extLst>
                    <a:ext uri="{FF2B5EF4-FFF2-40B4-BE49-F238E27FC236}">
                      <a16:creationId xmlns:a16="http://schemas.microsoft.com/office/drawing/2014/main" id="{B7371291-B563-3852-E6ED-96E35BEC0C58}"/>
                    </a:ext>
                  </a:extLst>
                </p:cNvPr>
                <p:cNvSpPr/>
                <p:nvPr/>
              </p:nvSpPr>
              <p:spPr>
                <a:xfrm>
                  <a:off x="3067871" y="3447783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 dirty="0"/>
                </a:p>
              </p:txBody>
            </p:sp>
            <p:sp>
              <p:nvSpPr>
                <p:cNvPr id="18" name="流程图: 接点 17">
                  <a:extLst>
                    <a:ext uri="{FF2B5EF4-FFF2-40B4-BE49-F238E27FC236}">
                      <a16:creationId xmlns:a16="http://schemas.microsoft.com/office/drawing/2014/main" id="{06166984-F8A8-2778-789D-122CB56F1192}"/>
                    </a:ext>
                  </a:extLst>
                </p:cNvPr>
                <p:cNvSpPr/>
                <p:nvPr/>
              </p:nvSpPr>
              <p:spPr>
                <a:xfrm>
                  <a:off x="3642578" y="2599639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 dirty="0"/>
                </a:p>
              </p:txBody>
            </p:sp>
            <p:sp>
              <p:nvSpPr>
                <p:cNvPr id="19" name="流程图: 接点 18">
                  <a:extLst>
                    <a:ext uri="{FF2B5EF4-FFF2-40B4-BE49-F238E27FC236}">
                      <a16:creationId xmlns:a16="http://schemas.microsoft.com/office/drawing/2014/main" id="{FA33369D-CEDF-086D-E56C-69E404E69627}"/>
                    </a:ext>
                  </a:extLst>
                </p:cNvPr>
                <p:cNvSpPr/>
                <p:nvPr/>
              </p:nvSpPr>
              <p:spPr>
                <a:xfrm>
                  <a:off x="3647657" y="3047056"/>
                  <a:ext cx="340469" cy="325609"/>
                </a:xfrm>
                <a:prstGeom prst="flowChartConnector">
                  <a:avLst/>
                </a:pr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34" dirty="0"/>
                </a:p>
              </p:txBody>
            </p:sp>
          </p:grpSp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0F166D18-0635-1473-FC90-F8848CA01FB3}"/>
                  </a:ext>
                </a:extLst>
              </p:cNvPr>
              <p:cNvCxnSpPr>
                <a:cxnSpLocks/>
                <a:stCxn id="14" idx="7"/>
                <a:endCxn id="15" idx="2"/>
              </p:cNvCxnSpPr>
              <p:nvPr/>
            </p:nvCxnSpPr>
            <p:spPr>
              <a:xfrm flipV="1">
                <a:off x="2822034" y="2357149"/>
                <a:ext cx="255635" cy="237794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70812E0D-D456-50CD-8354-865F68A73E0C}"/>
                  </a:ext>
                </a:extLst>
              </p:cNvPr>
              <p:cNvCxnSpPr>
                <a:cxnSpLocks/>
                <a:stCxn id="14" idx="6"/>
                <a:endCxn id="16" idx="1"/>
              </p:cNvCxnSpPr>
              <p:nvPr/>
            </p:nvCxnSpPr>
            <p:spPr>
              <a:xfrm>
                <a:off x="2871895" y="2710064"/>
                <a:ext cx="255634" cy="13249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C8DAEB52-C444-0C8D-DD94-A79D9B9DE860}"/>
                  </a:ext>
                </a:extLst>
              </p:cNvPr>
              <p:cNvCxnSpPr>
                <a:cxnSpLocks/>
                <a:stCxn id="14" idx="5"/>
                <a:endCxn id="17" idx="1"/>
              </p:cNvCxnSpPr>
              <p:nvPr/>
            </p:nvCxnSpPr>
            <p:spPr>
              <a:xfrm>
                <a:off x="2822034" y="2825184"/>
                <a:ext cx="317390" cy="617902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A70DC1AA-7C10-0FB7-3376-38EF65CE176B}"/>
                  </a:ext>
                </a:extLst>
              </p:cNvPr>
              <p:cNvCxnSpPr>
                <a:cxnSpLocks/>
                <a:stCxn id="13" idx="7"/>
                <a:endCxn id="15" idx="3"/>
              </p:cNvCxnSpPr>
              <p:nvPr/>
            </p:nvCxnSpPr>
            <p:spPr>
              <a:xfrm flipV="1">
                <a:off x="2814882" y="2472269"/>
                <a:ext cx="312648" cy="587247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20171C61-0206-7B20-4FD8-52857CCE00EC}"/>
                  </a:ext>
                </a:extLst>
              </p:cNvPr>
              <p:cNvCxnSpPr>
                <a:cxnSpLocks/>
                <a:stCxn id="13" idx="6"/>
                <a:endCxn id="16" idx="3"/>
              </p:cNvCxnSpPr>
              <p:nvPr/>
            </p:nvCxnSpPr>
            <p:spPr>
              <a:xfrm flipV="1">
                <a:off x="2864743" y="3072798"/>
                <a:ext cx="262786" cy="101839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4954EE82-6405-5BD7-A4E2-75DFA8643259}"/>
                  </a:ext>
                </a:extLst>
              </p:cNvPr>
              <p:cNvCxnSpPr>
                <a:cxnSpLocks/>
                <a:stCxn id="13" idx="5"/>
                <a:endCxn id="17" idx="2"/>
              </p:cNvCxnSpPr>
              <p:nvPr/>
            </p:nvCxnSpPr>
            <p:spPr>
              <a:xfrm>
                <a:off x="2814882" y="3289757"/>
                <a:ext cx="274682" cy="26845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F9EBE3D1-BA13-B472-373E-DBC716D2A974}"/>
                  </a:ext>
                </a:extLst>
              </p:cNvPr>
              <p:cNvCxnSpPr>
                <a:cxnSpLocks/>
                <a:stCxn id="15" idx="6"/>
                <a:endCxn id="18" idx="1"/>
              </p:cNvCxnSpPr>
              <p:nvPr/>
            </p:nvCxnSpPr>
            <p:spPr>
              <a:xfrm>
                <a:off x="3418138" y="2357149"/>
                <a:ext cx="295993" cy="23779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B06A77F0-D629-7D7D-6949-6A574B4A1FFF}"/>
                  </a:ext>
                </a:extLst>
              </p:cNvPr>
              <p:cNvCxnSpPr>
                <a:cxnSpLocks/>
                <a:stCxn id="15" idx="5"/>
                <a:endCxn id="19" idx="1"/>
              </p:cNvCxnSpPr>
              <p:nvPr/>
            </p:nvCxnSpPr>
            <p:spPr>
              <a:xfrm>
                <a:off x="3368277" y="2472269"/>
                <a:ext cx="350933" cy="57009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1D11201D-1C5A-AA29-5174-22D4D07EE0DB}"/>
                  </a:ext>
                </a:extLst>
              </p:cNvPr>
              <p:cNvCxnSpPr>
                <a:cxnSpLocks/>
                <a:stCxn id="16" idx="7"/>
                <a:endCxn id="18" idx="2"/>
              </p:cNvCxnSpPr>
              <p:nvPr/>
            </p:nvCxnSpPr>
            <p:spPr>
              <a:xfrm flipV="1">
                <a:off x="3368276" y="2710063"/>
                <a:ext cx="295994" cy="132494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4C6BB020-A356-49E6-1FF7-1BCE57623C8F}"/>
                  </a:ext>
                </a:extLst>
              </p:cNvPr>
              <p:cNvCxnSpPr>
                <a:cxnSpLocks/>
                <a:stCxn id="16" idx="5"/>
                <a:endCxn id="19" idx="2"/>
              </p:cNvCxnSpPr>
              <p:nvPr/>
            </p:nvCxnSpPr>
            <p:spPr>
              <a:xfrm>
                <a:off x="3368276" y="3072798"/>
                <a:ext cx="301073" cy="84682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19FB9C0E-8DC5-A9FC-F602-85DBD0018C07}"/>
                  </a:ext>
                </a:extLst>
              </p:cNvPr>
              <p:cNvCxnSpPr>
                <a:cxnSpLocks/>
                <a:stCxn id="17" idx="7"/>
                <a:endCxn id="18" idx="3"/>
              </p:cNvCxnSpPr>
              <p:nvPr/>
            </p:nvCxnSpPr>
            <p:spPr>
              <a:xfrm flipV="1">
                <a:off x="3380171" y="2825183"/>
                <a:ext cx="333960" cy="617903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3F68D4EF-6C99-B21A-BC54-37C98C44483B}"/>
                  </a:ext>
                </a:extLst>
              </p:cNvPr>
              <p:cNvCxnSpPr>
                <a:cxnSpLocks/>
                <a:stCxn id="17" idx="6"/>
                <a:endCxn id="19" idx="3"/>
              </p:cNvCxnSpPr>
              <p:nvPr/>
            </p:nvCxnSpPr>
            <p:spPr>
              <a:xfrm flipV="1">
                <a:off x="3430032" y="3272600"/>
                <a:ext cx="289178" cy="285607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C53E13E7-504B-4185-BA46-175414800D6B}"/>
                    </a:ext>
                  </a:extLst>
                </p:cNvPr>
                <p:cNvSpPr txBox="1"/>
                <p:nvPr/>
              </p:nvSpPr>
              <p:spPr>
                <a:xfrm>
                  <a:off x="1437581" y="2347367"/>
                  <a:ext cx="1110419" cy="3821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𝟏𝟐𝟖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343" name="文本框 342">
                  <a:extLst>
                    <a:ext uri="{FF2B5EF4-FFF2-40B4-BE49-F238E27FC236}">
                      <a16:creationId xmlns:a16="http://schemas.microsoft.com/office/drawing/2014/main" id="{C53E13E7-504B-4185-BA46-175414800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7581" y="2347367"/>
                  <a:ext cx="1110419" cy="3821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0" name="组合 369">
            <a:extLst>
              <a:ext uri="{FF2B5EF4-FFF2-40B4-BE49-F238E27FC236}">
                <a16:creationId xmlns:a16="http://schemas.microsoft.com/office/drawing/2014/main" id="{B58C1EA5-EDF8-4643-8D8A-8E5DEFB62AEC}"/>
              </a:ext>
            </a:extLst>
          </p:cNvPr>
          <p:cNvGrpSpPr/>
          <p:nvPr/>
        </p:nvGrpSpPr>
        <p:grpSpPr>
          <a:xfrm>
            <a:off x="3394126" y="2385979"/>
            <a:ext cx="452354" cy="2049325"/>
            <a:chOff x="3380101" y="2690131"/>
            <a:chExt cx="452354" cy="2049325"/>
          </a:xfrm>
        </p:grpSpPr>
        <p:grpSp>
          <p:nvGrpSpPr>
            <p:cNvPr id="344" name="组合 343">
              <a:extLst>
                <a:ext uri="{FF2B5EF4-FFF2-40B4-BE49-F238E27FC236}">
                  <a16:creationId xmlns:a16="http://schemas.microsoft.com/office/drawing/2014/main" id="{7533AFE1-461C-482A-88A3-E7A9B77651C6}"/>
                </a:ext>
              </a:extLst>
            </p:cNvPr>
            <p:cNvGrpSpPr/>
            <p:nvPr/>
          </p:nvGrpSpPr>
          <p:grpSpPr>
            <a:xfrm>
              <a:off x="3380101" y="2690131"/>
              <a:ext cx="452354" cy="2049325"/>
              <a:chOff x="3380101" y="2518465"/>
              <a:chExt cx="378830" cy="1810510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D47AD638-6D53-4BAD-BA0D-E873B3AE5F5C}"/>
                  </a:ext>
                </a:extLst>
              </p:cNvPr>
              <p:cNvGrpSpPr/>
              <p:nvPr/>
            </p:nvGrpSpPr>
            <p:grpSpPr>
              <a:xfrm>
                <a:off x="3380101" y="2518465"/>
                <a:ext cx="378830" cy="1810510"/>
                <a:chOff x="4654900" y="5062238"/>
                <a:chExt cx="889711" cy="3681343"/>
              </a:xfrm>
            </p:grpSpPr>
            <p:grpSp>
              <p:nvGrpSpPr>
                <p:cNvPr id="93" name="组合 92">
                  <a:extLst>
                    <a:ext uri="{FF2B5EF4-FFF2-40B4-BE49-F238E27FC236}">
                      <a16:creationId xmlns:a16="http://schemas.microsoft.com/office/drawing/2014/main" id="{B85A0199-0066-3C5C-58DE-770D8E120871}"/>
                    </a:ext>
                  </a:extLst>
                </p:cNvPr>
                <p:cNvGrpSpPr/>
                <p:nvPr/>
              </p:nvGrpSpPr>
              <p:grpSpPr>
                <a:xfrm>
                  <a:off x="4654900" y="5062238"/>
                  <a:ext cx="889711" cy="3681343"/>
                  <a:chOff x="4664777" y="1105025"/>
                  <a:chExt cx="889711" cy="3681343"/>
                </a:xfrm>
              </p:grpSpPr>
              <p:sp>
                <p:nvSpPr>
                  <p:cNvPr id="63" name="矩形: 圆角 62">
                    <a:extLst>
                      <a:ext uri="{FF2B5EF4-FFF2-40B4-BE49-F238E27FC236}">
                        <a16:creationId xmlns:a16="http://schemas.microsoft.com/office/drawing/2014/main" id="{FF8299C6-1204-F74E-3D31-839A690769B6}"/>
                      </a:ext>
                    </a:extLst>
                  </p:cNvPr>
                  <p:cNvSpPr/>
                  <p:nvPr/>
                </p:nvSpPr>
                <p:spPr>
                  <a:xfrm>
                    <a:off x="4664777" y="1105025"/>
                    <a:ext cx="889711" cy="3681343"/>
                  </a:xfrm>
                  <a:prstGeom prst="round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ts val="426"/>
                      </a:lnSpc>
                    </a:pPr>
                    <a:endParaRPr lang="en-US" altLang="zh-CN" sz="3407" dirty="0">
                      <a:solidFill>
                        <a:schemeClr val="tx1"/>
                      </a:solidFill>
                    </a:endParaRPr>
                  </a:p>
                  <a:p>
                    <a:pPr algn="ctr">
                      <a:lnSpc>
                        <a:spcPts val="426"/>
                      </a:lnSpc>
                    </a:pPr>
                    <a:endParaRPr lang="en-US" altLang="zh-CN" sz="3407" dirty="0">
                      <a:solidFill>
                        <a:schemeClr val="tx1"/>
                      </a:solidFill>
                    </a:endParaRPr>
                  </a:p>
                  <a:p>
                    <a:pPr algn="ctr">
                      <a:lnSpc>
                        <a:spcPts val="426"/>
                      </a:lnSpc>
                    </a:pPr>
                    <a:endParaRPr lang="en-US" altLang="zh-CN" sz="3407" dirty="0">
                      <a:solidFill>
                        <a:schemeClr val="tx1"/>
                      </a:solidFill>
                    </a:endParaRPr>
                  </a:p>
                  <a:p>
                    <a:pPr algn="ctr">
                      <a:lnSpc>
                        <a:spcPts val="426"/>
                      </a:lnSpc>
                    </a:pPr>
                    <a:endParaRPr lang="en-US" altLang="zh-CN" sz="3407" dirty="0">
                      <a:solidFill>
                        <a:schemeClr val="tx1"/>
                      </a:solidFill>
                    </a:endParaRPr>
                  </a:p>
                  <a:p>
                    <a:pPr algn="ctr">
                      <a:lnSpc>
                        <a:spcPts val="426"/>
                      </a:lnSpc>
                    </a:pPr>
                    <a:endParaRPr lang="en-US" altLang="zh-CN" sz="3407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1" name="流程图: 接点 60">
                        <a:extLst>
                          <a:ext uri="{FF2B5EF4-FFF2-40B4-BE49-F238E27FC236}">
                            <a16:creationId xmlns:a16="http://schemas.microsoft.com/office/drawing/2014/main" id="{27549E58-4BA8-2A77-B811-57938D95B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35373" y="2641561"/>
                        <a:ext cx="578428" cy="508119"/>
                      </a:xfrm>
                      <a:prstGeom prst="flowChartConnector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noFill/>
                      </a:ln>
                      <a:effectLst>
                        <a:softEdge rad="0"/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534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1534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m:oMathPara>
                        </a14:m>
                        <a:endParaRPr lang="zh-CN" altLang="en-US" sz="2384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1" name="流程图: 接点 60">
                        <a:extLst>
                          <a:ext uri="{FF2B5EF4-FFF2-40B4-BE49-F238E27FC236}">
                            <a16:creationId xmlns:a16="http://schemas.microsoft.com/office/drawing/2014/main" id="{27549E58-4BA8-2A77-B811-57938D95B4E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35373" y="2641561"/>
                        <a:ext cx="578428" cy="508119"/>
                      </a:xfrm>
                      <a:prstGeom prst="flowChartConnector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noFill/>
                      </a:ln>
                      <a:effectLst>
                        <a:softEdge rad="0"/>
                      </a:effectLst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1" name="流程图: 接点 310">
                      <a:extLst>
                        <a:ext uri="{FF2B5EF4-FFF2-40B4-BE49-F238E27FC236}">
                          <a16:creationId xmlns:a16="http://schemas.microsoft.com/office/drawing/2014/main" id="{B24108BF-3E1E-4175-83C7-9E1257B271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21000" y="7318504"/>
                      <a:ext cx="578428" cy="508119"/>
                    </a:xfrm>
                    <a:prstGeom prst="flowChartConnector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  <a:effectLst>
                      <a:softEdge rad="0"/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534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534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zh-CN" altLang="en-US" sz="2384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311" name="流程图: 接点 310">
                      <a:extLst>
                        <a:ext uri="{FF2B5EF4-FFF2-40B4-BE49-F238E27FC236}">
                          <a16:creationId xmlns:a16="http://schemas.microsoft.com/office/drawing/2014/main" id="{B24108BF-3E1E-4175-83C7-9E1257B2714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21000" y="7318504"/>
                      <a:ext cx="578428" cy="508119"/>
                    </a:xfrm>
                    <a:prstGeom prst="flowChartConnector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softEdge rad="0"/>
                    </a:effectLst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0" name="流程图: 接点 319">
                    <a:extLst>
                      <a:ext uri="{FF2B5EF4-FFF2-40B4-BE49-F238E27FC236}">
                        <a16:creationId xmlns:a16="http://schemas.microsoft.com/office/drawing/2014/main" id="{7F5DB807-DD3D-42F0-8BF4-040A7A67BEDE}"/>
                      </a:ext>
                    </a:extLst>
                  </p:cNvPr>
                  <p:cNvSpPr/>
                  <p:nvPr/>
                </p:nvSpPr>
                <p:spPr>
                  <a:xfrm>
                    <a:off x="3446371" y="2960163"/>
                    <a:ext cx="246289" cy="225506"/>
                  </a:xfrm>
                  <a:prstGeom prst="flowChartConnector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  <a:effectLst>
                    <a:softEdge rad="0"/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534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sz="1534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34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534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384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0" name="流程图: 接点 319">
                    <a:extLst>
                      <a:ext uri="{FF2B5EF4-FFF2-40B4-BE49-F238E27FC236}">
                        <a16:creationId xmlns:a16="http://schemas.microsoft.com/office/drawing/2014/main" id="{7F5DB807-DD3D-42F0-8BF4-040A7A67BE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6371" y="2960163"/>
                    <a:ext cx="246289" cy="225506"/>
                  </a:xfrm>
                  <a:prstGeom prst="flowChartConnector">
                    <a:avLst/>
                  </a:prstGeom>
                  <a:blipFill>
                    <a:blip r:embed="rId10"/>
                    <a:stretch>
                      <a:fillRect l="-4167" b="-7143"/>
                    </a:stretch>
                  </a:blipFill>
                  <a:ln>
                    <a:noFill/>
                  </a:ln>
                  <a:effectLst>
                    <a:softEdge rad="0"/>
                  </a:effec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5" name="流程图: 接点 344">
                  <a:extLst>
                    <a:ext uri="{FF2B5EF4-FFF2-40B4-BE49-F238E27FC236}">
                      <a16:creationId xmlns:a16="http://schemas.microsoft.com/office/drawing/2014/main" id="{96B19AE6-D186-448D-9880-3BCCB9B1BC5A}"/>
                    </a:ext>
                  </a:extLst>
                </p:cNvPr>
                <p:cNvSpPr/>
                <p:nvPr/>
              </p:nvSpPr>
              <p:spPr>
                <a:xfrm>
                  <a:off x="3415964" y="2738031"/>
                  <a:ext cx="368563" cy="327465"/>
                </a:xfrm>
                <a:prstGeom prst="flowChartConnector">
                  <a:avLst/>
                </a:prstGeom>
                <a:solidFill>
                  <a:srgbClr val="92D050"/>
                </a:solidFill>
                <a:ln>
                  <a:noFill/>
                </a:ln>
                <a:effectLst>
                  <a:softEdge rad="0"/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5" name="流程图: 接点 344">
                  <a:extLst>
                    <a:ext uri="{FF2B5EF4-FFF2-40B4-BE49-F238E27FC236}">
                      <a16:creationId xmlns:a16="http://schemas.microsoft.com/office/drawing/2014/main" id="{96B19AE6-D186-448D-9880-3BCCB9B1BC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5964" y="2738031"/>
                  <a:ext cx="368563" cy="327465"/>
                </a:xfrm>
                <a:prstGeom prst="flowChartConnector">
                  <a:avLst/>
                </a:prstGeom>
                <a:blipFill>
                  <a:blip r:embed="rId11"/>
                  <a:stretch>
                    <a:fillRect l="-8333" r="-8333"/>
                  </a:stretch>
                </a:blipFill>
                <a:ln>
                  <a:noFill/>
                </a:ln>
                <a:effectLst>
                  <a:softEdge rad="0"/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DA921367-67FE-4314-E257-134C90D003BE}"/>
              </a:ext>
            </a:extLst>
          </p:cNvPr>
          <p:cNvCxnSpPr>
            <a:cxnSpLocks/>
            <a:stCxn id="61" idx="6"/>
            <a:endCxn id="94" idx="2"/>
          </p:cNvCxnSpPr>
          <p:nvPr/>
        </p:nvCxnSpPr>
        <p:spPr>
          <a:xfrm>
            <a:off x="3774951" y="3382766"/>
            <a:ext cx="416153" cy="45919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092456B2-8EB6-5046-CA36-AA110D543F2D}"/>
              </a:ext>
            </a:extLst>
          </p:cNvPr>
          <p:cNvCxnSpPr>
            <a:cxnSpLocks/>
            <a:stCxn id="311" idx="6"/>
            <a:endCxn id="94" idx="3"/>
          </p:cNvCxnSpPr>
          <p:nvPr/>
        </p:nvCxnSpPr>
        <p:spPr>
          <a:xfrm flipV="1">
            <a:off x="3772665" y="3624351"/>
            <a:ext cx="496486" cy="159073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949E8A07-2D91-877C-7CA5-1719602BAFD4}"/>
              </a:ext>
            </a:extLst>
          </p:cNvPr>
          <p:cNvCxnSpPr>
            <a:cxnSpLocks/>
            <a:stCxn id="411" idx="6"/>
            <a:endCxn id="94" idx="4"/>
          </p:cNvCxnSpPr>
          <p:nvPr/>
        </p:nvCxnSpPr>
        <p:spPr>
          <a:xfrm flipV="1">
            <a:off x="3772665" y="3705399"/>
            <a:ext cx="684907" cy="493906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接箭头连接符 354">
            <a:extLst>
              <a:ext uri="{FF2B5EF4-FFF2-40B4-BE49-F238E27FC236}">
                <a16:creationId xmlns:a16="http://schemas.microsoft.com/office/drawing/2014/main" id="{2DCCAD80-86CB-4120-A7AE-6C3BD826F630}"/>
              </a:ext>
            </a:extLst>
          </p:cNvPr>
          <p:cNvCxnSpPr>
            <a:cxnSpLocks/>
            <a:stCxn id="320" idx="6"/>
            <a:endCxn id="94" idx="1"/>
          </p:cNvCxnSpPr>
          <p:nvPr/>
        </p:nvCxnSpPr>
        <p:spPr>
          <a:xfrm>
            <a:off x="3767347" y="3013565"/>
            <a:ext cx="501804" cy="219453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直接箭头连接符 384">
            <a:extLst>
              <a:ext uri="{FF2B5EF4-FFF2-40B4-BE49-F238E27FC236}">
                <a16:creationId xmlns:a16="http://schemas.microsoft.com/office/drawing/2014/main" id="{FDD370A3-7C73-49C9-B55D-F90C5651A2DF}"/>
              </a:ext>
            </a:extLst>
          </p:cNvPr>
          <p:cNvCxnSpPr>
            <a:cxnSpLocks/>
            <a:stCxn id="11" idx="3"/>
            <a:endCxn id="320" idx="2"/>
          </p:cNvCxnSpPr>
          <p:nvPr/>
        </p:nvCxnSpPr>
        <p:spPr>
          <a:xfrm flipV="1">
            <a:off x="2836300" y="3013565"/>
            <a:ext cx="636958" cy="397683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直接箭头连接符 387">
            <a:extLst>
              <a:ext uri="{FF2B5EF4-FFF2-40B4-BE49-F238E27FC236}">
                <a16:creationId xmlns:a16="http://schemas.microsoft.com/office/drawing/2014/main" id="{4688A5D4-5A5E-44A8-9A7F-90B93AA893F8}"/>
              </a:ext>
            </a:extLst>
          </p:cNvPr>
          <p:cNvCxnSpPr>
            <a:cxnSpLocks/>
            <a:stCxn id="11" idx="3"/>
            <a:endCxn id="345" idx="2"/>
          </p:cNvCxnSpPr>
          <p:nvPr/>
        </p:nvCxnSpPr>
        <p:spPr>
          <a:xfrm flipV="1">
            <a:off x="2836300" y="2597612"/>
            <a:ext cx="593689" cy="813636"/>
          </a:xfrm>
          <a:prstGeom prst="straightConnector1">
            <a:avLst/>
          </a:prstGeom>
          <a:ln w="25400">
            <a:gradFill>
              <a:gsLst>
                <a:gs pos="0">
                  <a:schemeClr val="accent5">
                    <a:lumMod val="75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等腰三角形 409">
            <a:extLst>
              <a:ext uri="{FF2B5EF4-FFF2-40B4-BE49-F238E27FC236}">
                <a16:creationId xmlns:a16="http://schemas.microsoft.com/office/drawing/2014/main" id="{B4C3C98B-1D87-4E35-8EC6-81929946C3AB}"/>
              </a:ext>
            </a:extLst>
          </p:cNvPr>
          <p:cNvSpPr/>
          <p:nvPr/>
        </p:nvSpPr>
        <p:spPr>
          <a:xfrm>
            <a:off x="3582250" y="3870971"/>
            <a:ext cx="2438491" cy="1025714"/>
          </a:xfrm>
          <a:prstGeom prst="triangle">
            <a:avLst/>
          </a:prstGeom>
          <a:gradFill>
            <a:gsLst>
              <a:gs pos="0">
                <a:schemeClr val="tx2">
                  <a:lumMod val="60000"/>
                  <a:lumOff val="40000"/>
                  <a:alpha val="1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cxnSp>
        <p:nvCxnSpPr>
          <p:cNvPr id="395" name="直接箭头连接符 394">
            <a:extLst>
              <a:ext uri="{FF2B5EF4-FFF2-40B4-BE49-F238E27FC236}">
                <a16:creationId xmlns:a16="http://schemas.microsoft.com/office/drawing/2014/main" id="{93FA4E83-9A0D-40D2-876A-A1076F9CB82E}"/>
              </a:ext>
            </a:extLst>
          </p:cNvPr>
          <p:cNvCxnSpPr>
            <a:cxnSpLocks/>
            <a:stCxn id="345" idx="6"/>
            <a:endCxn id="94" idx="0"/>
          </p:cNvCxnSpPr>
          <p:nvPr/>
        </p:nvCxnSpPr>
        <p:spPr>
          <a:xfrm>
            <a:off x="3798552" y="2597612"/>
            <a:ext cx="659020" cy="554358"/>
          </a:xfrm>
          <a:prstGeom prst="straightConnector1">
            <a:avLst/>
          </a:prstGeom>
          <a:ln w="25400"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流程图: 接点 410">
                <a:extLst>
                  <a:ext uri="{FF2B5EF4-FFF2-40B4-BE49-F238E27FC236}">
                    <a16:creationId xmlns:a16="http://schemas.microsoft.com/office/drawing/2014/main" id="{9F0A9D55-E7BA-48A1-9DF9-557B105B7D04}"/>
                  </a:ext>
                </a:extLst>
              </p:cNvPr>
              <p:cNvSpPr/>
              <p:nvPr/>
            </p:nvSpPr>
            <p:spPr>
              <a:xfrm>
                <a:off x="3478576" y="4057875"/>
                <a:ext cx="294089" cy="282859"/>
              </a:xfrm>
              <a:prstGeom prst="flowChartConnector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>
                <a:softEdge rad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34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534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zh-CN" altLang="en-US" sz="2384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1" name="流程图: 接点 410">
                <a:extLst>
                  <a:ext uri="{FF2B5EF4-FFF2-40B4-BE49-F238E27FC236}">
                    <a16:creationId xmlns:a16="http://schemas.microsoft.com/office/drawing/2014/main" id="{9F0A9D55-E7BA-48A1-9DF9-557B105B7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576" y="4057875"/>
                <a:ext cx="294089" cy="282859"/>
              </a:xfrm>
              <a:prstGeom prst="flowChartConnector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>
                <a:softEdge rad="0"/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4" name="矩形: 圆角 433">
                <a:extLst>
                  <a:ext uri="{FF2B5EF4-FFF2-40B4-BE49-F238E27FC236}">
                    <a16:creationId xmlns:a16="http://schemas.microsoft.com/office/drawing/2014/main" id="{224D2969-0654-445B-8ED6-BA821A81B543}"/>
                  </a:ext>
                </a:extLst>
              </p:cNvPr>
              <p:cNvSpPr/>
              <p:nvPr/>
            </p:nvSpPr>
            <p:spPr>
              <a:xfrm>
                <a:off x="4078910" y="2390265"/>
                <a:ext cx="2988899" cy="363562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kernel: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l-GR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4" name="矩形: 圆角 433">
                <a:extLst>
                  <a:ext uri="{FF2B5EF4-FFF2-40B4-BE49-F238E27FC236}">
                    <a16:creationId xmlns:a16="http://schemas.microsoft.com/office/drawing/2014/main" id="{224D2969-0654-445B-8ED6-BA821A81B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910" y="2390265"/>
                <a:ext cx="2988899" cy="363562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6" name="直接箭头连接符 435">
            <a:extLst>
              <a:ext uri="{FF2B5EF4-FFF2-40B4-BE49-F238E27FC236}">
                <a16:creationId xmlns:a16="http://schemas.microsoft.com/office/drawing/2014/main" id="{5AF92B14-5422-4E05-8E34-E1F02E2FF6EA}"/>
              </a:ext>
            </a:extLst>
          </p:cNvPr>
          <p:cNvCxnSpPr>
            <a:cxnSpLocks/>
            <a:stCxn id="434" idx="2"/>
            <a:endCxn id="94" idx="7"/>
          </p:cNvCxnSpPr>
          <p:nvPr/>
        </p:nvCxnSpPr>
        <p:spPr>
          <a:xfrm flipH="1">
            <a:off x="4645992" y="2753827"/>
            <a:ext cx="927368" cy="479191"/>
          </a:xfrm>
          <a:prstGeom prst="straightConnector1">
            <a:avLst/>
          </a:prstGeom>
          <a:ln w="50800" cmpd="dbl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9DC629-4317-DB8D-C3FC-84494F90978E}"/>
              </a:ext>
            </a:extLst>
          </p:cNvPr>
          <p:cNvGrpSpPr/>
          <p:nvPr/>
        </p:nvGrpSpPr>
        <p:grpSpPr>
          <a:xfrm>
            <a:off x="2690853" y="4530978"/>
            <a:ext cx="410780" cy="406497"/>
            <a:chOff x="887692" y="2573518"/>
            <a:chExt cx="582889" cy="603315"/>
          </a:xfrm>
        </p:grpSpPr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88266E32-BEEC-BEBC-DCCF-F288F1932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692" y="2573518"/>
              <a:ext cx="582889" cy="603315"/>
            </a:xfrm>
            <a:custGeom>
              <a:avLst/>
              <a:gdLst>
                <a:gd name="T0" fmla="*/ 385 w 682"/>
                <a:gd name="T1" fmla="*/ 638 h 680"/>
                <a:gd name="T2" fmla="*/ 425 w 682"/>
                <a:gd name="T3" fmla="*/ 634 h 680"/>
                <a:gd name="T4" fmla="*/ 489 w 682"/>
                <a:gd name="T5" fmla="*/ 641 h 680"/>
                <a:gd name="T6" fmla="*/ 512 w 682"/>
                <a:gd name="T7" fmla="*/ 589 h 680"/>
                <a:gd name="T8" fmla="*/ 569 w 682"/>
                <a:gd name="T9" fmla="*/ 586 h 680"/>
                <a:gd name="T10" fmla="*/ 586 w 682"/>
                <a:gd name="T11" fmla="*/ 524 h 680"/>
                <a:gd name="T12" fmla="*/ 604 w 682"/>
                <a:gd name="T13" fmla="*/ 488 h 680"/>
                <a:gd name="T14" fmla="*/ 659 w 682"/>
                <a:gd name="T15" fmla="*/ 461 h 680"/>
                <a:gd name="T16" fmla="*/ 640 w 682"/>
                <a:gd name="T17" fmla="*/ 408 h 680"/>
                <a:gd name="T18" fmla="*/ 643 w 682"/>
                <a:gd name="T19" fmla="*/ 360 h 680"/>
                <a:gd name="T20" fmla="*/ 681 w 682"/>
                <a:gd name="T21" fmla="*/ 312 h 680"/>
                <a:gd name="T22" fmla="*/ 634 w 682"/>
                <a:gd name="T23" fmla="*/ 263 h 680"/>
                <a:gd name="T24" fmla="*/ 629 w 682"/>
                <a:gd name="T25" fmla="*/ 219 h 680"/>
                <a:gd name="T26" fmla="*/ 609 w 682"/>
                <a:gd name="T27" fmla="*/ 160 h 680"/>
                <a:gd name="T28" fmla="*/ 564 w 682"/>
                <a:gd name="T29" fmla="*/ 134 h 680"/>
                <a:gd name="T30" fmla="*/ 559 w 682"/>
                <a:gd name="T31" fmla="*/ 76 h 680"/>
                <a:gd name="T32" fmla="*/ 499 w 682"/>
                <a:gd name="T33" fmla="*/ 75 h 680"/>
                <a:gd name="T34" fmla="*/ 455 w 682"/>
                <a:gd name="T35" fmla="*/ 57 h 680"/>
                <a:gd name="T36" fmla="*/ 412 w 682"/>
                <a:gd name="T37" fmla="*/ 5 h 680"/>
                <a:gd name="T38" fmla="*/ 360 w 682"/>
                <a:gd name="T39" fmla="*/ 36 h 680"/>
                <a:gd name="T40" fmla="*/ 304 w 682"/>
                <a:gd name="T41" fmla="*/ 8 h 680"/>
                <a:gd name="T42" fmla="*/ 257 w 682"/>
                <a:gd name="T43" fmla="*/ 17 h 680"/>
                <a:gd name="T44" fmla="*/ 224 w 682"/>
                <a:gd name="T45" fmla="*/ 58 h 680"/>
                <a:gd name="T46" fmla="*/ 168 w 682"/>
                <a:gd name="T47" fmla="*/ 49 h 680"/>
                <a:gd name="T48" fmla="*/ 136 w 682"/>
                <a:gd name="T49" fmla="*/ 114 h 680"/>
                <a:gd name="T50" fmla="*/ 109 w 682"/>
                <a:gd name="T51" fmla="*/ 143 h 680"/>
                <a:gd name="T52" fmla="*/ 50 w 682"/>
                <a:gd name="T53" fmla="*/ 160 h 680"/>
                <a:gd name="T54" fmla="*/ 63 w 682"/>
                <a:gd name="T55" fmla="*/ 217 h 680"/>
                <a:gd name="T56" fmla="*/ 42 w 682"/>
                <a:gd name="T57" fmla="*/ 264 h 680"/>
                <a:gd name="T58" fmla="*/ 5 w 682"/>
                <a:gd name="T59" fmla="*/ 316 h 680"/>
                <a:gd name="T60" fmla="*/ 38 w 682"/>
                <a:gd name="T61" fmla="*/ 362 h 680"/>
                <a:gd name="T62" fmla="*/ 9 w 682"/>
                <a:gd name="T63" fmla="*/ 422 h 680"/>
                <a:gd name="T64" fmla="*/ 52 w 682"/>
                <a:gd name="T65" fmla="*/ 458 h 680"/>
                <a:gd name="T66" fmla="*/ 79 w 682"/>
                <a:gd name="T67" fmla="*/ 492 h 680"/>
                <a:gd name="T68" fmla="*/ 81 w 682"/>
                <a:gd name="T69" fmla="*/ 560 h 680"/>
                <a:gd name="T70" fmla="*/ 141 w 682"/>
                <a:gd name="T71" fmla="*/ 567 h 680"/>
                <a:gd name="T72" fmla="*/ 176 w 682"/>
                <a:gd name="T73" fmla="*/ 616 h 680"/>
                <a:gd name="T74" fmla="*/ 219 w 682"/>
                <a:gd name="T75" fmla="*/ 648 h 680"/>
                <a:gd name="T76" fmla="*/ 273 w 682"/>
                <a:gd name="T77" fmla="*/ 634 h 680"/>
                <a:gd name="T78" fmla="*/ 310 w 682"/>
                <a:gd name="T79" fmla="*/ 674 h 680"/>
                <a:gd name="T80" fmla="*/ 297 w 682"/>
                <a:gd name="T81" fmla="*/ 588 h 680"/>
                <a:gd name="T82" fmla="*/ 231 w 682"/>
                <a:gd name="T83" fmla="*/ 567 h 680"/>
                <a:gd name="T84" fmla="*/ 182 w 682"/>
                <a:gd name="T85" fmla="*/ 537 h 680"/>
                <a:gd name="T86" fmla="*/ 117 w 682"/>
                <a:gd name="T87" fmla="*/ 459 h 680"/>
                <a:gd name="T88" fmla="*/ 89 w 682"/>
                <a:gd name="T89" fmla="*/ 375 h 680"/>
                <a:gd name="T90" fmla="*/ 101 w 682"/>
                <a:gd name="T91" fmla="*/ 255 h 680"/>
                <a:gd name="T92" fmla="*/ 145 w 682"/>
                <a:gd name="T93" fmla="*/ 176 h 680"/>
                <a:gd name="T94" fmla="*/ 239 w 682"/>
                <a:gd name="T95" fmla="*/ 106 h 680"/>
                <a:gd name="T96" fmla="*/ 338 w 682"/>
                <a:gd name="T97" fmla="*/ 85 h 680"/>
                <a:gd name="T98" fmla="*/ 435 w 682"/>
                <a:gd name="T99" fmla="*/ 103 h 680"/>
                <a:gd name="T100" fmla="*/ 517 w 682"/>
                <a:gd name="T101" fmla="*/ 156 h 680"/>
                <a:gd name="T102" fmla="*/ 544 w 682"/>
                <a:gd name="T103" fmla="*/ 187 h 680"/>
                <a:gd name="T104" fmla="*/ 587 w 682"/>
                <a:gd name="T105" fmla="*/ 276 h 680"/>
                <a:gd name="T106" fmla="*/ 592 w 682"/>
                <a:gd name="T107" fmla="*/ 373 h 680"/>
                <a:gd name="T108" fmla="*/ 557 w 682"/>
                <a:gd name="T109" fmla="*/ 471 h 680"/>
                <a:gd name="T110" fmla="*/ 488 w 682"/>
                <a:gd name="T111" fmla="*/ 545 h 680"/>
                <a:gd name="T112" fmla="*/ 403 w 682"/>
                <a:gd name="T113" fmla="*/ 585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82" h="680">
                  <a:moveTo>
                    <a:pt x="345" y="680"/>
                  </a:moveTo>
                  <a:cubicBezTo>
                    <a:pt x="348" y="680"/>
                    <a:pt x="352" y="678"/>
                    <a:pt x="353" y="675"/>
                  </a:cubicBezTo>
                  <a:cubicBezTo>
                    <a:pt x="353" y="675"/>
                    <a:pt x="354" y="673"/>
                    <a:pt x="355" y="670"/>
                  </a:cubicBezTo>
                  <a:cubicBezTo>
                    <a:pt x="357" y="668"/>
                    <a:pt x="359" y="664"/>
                    <a:pt x="360" y="660"/>
                  </a:cubicBezTo>
                  <a:cubicBezTo>
                    <a:pt x="364" y="653"/>
                    <a:pt x="367" y="645"/>
                    <a:pt x="367" y="645"/>
                  </a:cubicBezTo>
                  <a:cubicBezTo>
                    <a:pt x="368" y="642"/>
                    <a:pt x="371" y="640"/>
                    <a:pt x="374" y="640"/>
                  </a:cubicBezTo>
                  <a:cubicBezTo>
                    <a:pt x="374" y="640"/>
                    <a:pt x="379" y="639"/>
                    <a:pt x="385" y="638"/>
                  </a:cubicBezTo>
                  <a:cubicBezTo>
                    <a:pt x="388" y="638"/>
                    <a:pt x="390" y="638"/>
                    <a:pt x="392" y="637"/>
                  </a:cubicBezTo>
                  <a:cubicBezTo>
                    <a:pt x="394" y="637"/>
                    <a:pt x="395" y="637"/>
                    <a:pt x="395" y="637"/>
                  </a:cubicBezTo>
                  <a:cubicBezTo>
                    <a:pt x="395" y="637"/>
                    <a:pt x="397" y="636"/>
                    <a:pt x="399" y="636"/>
                  </a:cubicBezTo>
                  <a:cubicBezTo>
                    <a:pt x="401" y="636"/>
                    <a:pt x="403" y="635"/>
                    <a:pt x="406" y="635"/>
                  </a:cubicBezTo>
                  <a:cubicBezTo>
                    <a:pt x="409" y="634"/>
                    <a:pt x="411" y="633"/>
                    <a:pt x="413" y="633"/>
                  </a:cubicBezTo>
                  <a:cubicBezTo>
                    <a:pt x="415" y="632"/>
                    <a:pt x="417" y="632"/>
                    <a:pt x="417" y="632"/>
                  </a:cubicBezTo>
                  <a:cubicBezTo>
                    <a:pt x="420" y="631"/>
                    <a:pt x="423" y="632"/>
                    <a:pt x="425" y="634"/>
                  </a:cubicBezTo>
                  <a:cubicBezTo>
                    <a:pt x="425" y="634"/>
                    <a:pt x="431" y="640"/>
                    <a:pt x="437" y="646"/>
                  </a:cubicBezTo>
                  <a:cubicBezTo>
                    <a:pt x="443" y="652"/>
                    <a:pt x="449" y="657"/>
                    <a:pt x="449" y="657"/>
                  </a:cubicBezTo>
                  <a:cubicBezTo>
                    <a:pt x="451" y="659"/>
                    <a:pt x="455" y="660"/>
                    <a:pt x="458" y="659"/>
                  </a:cubicBezTo>
                  <a:cubicBezTo>
                    <a:pt x="458" y="659"/>
                    <a:pt x="465" y="656"/>
                    <a:pt x="471" y="654"/>
                  </a:cubicBezTo>
                  <a:cubicBezTo>
                    <a:pt x="474" y="653"/>
                    <a:pt x="477" y="651"/>
                    <a:pt x="479" y="650"/>
                  </a:cubicBezTo>
                  <a:cubicBezTo>
                    <a:pt x="482" y="649"/>
                    <a:pt x="483" y="649"/>
                    <a:pt x="483" y="649"/>
                  </a:cubicBezTo>
                  <a:cubicBezTo>
                    <a:pt x="486" y="647"/>
                    <a:pt x="489" y="644"/>
                    <a:pt x="489" y="641"/>
                  </a:cubicBezTo>
                  <a:cubicBezTo>
                    <a:pt x="489" y="641"/>
                    <a:pt x="489" y="632"/>
                    <a:pt x="489" y="624"/>
                  </a:cubicBezTo>
                  <a:cubicBezTo>
                    <a:pt x="490" y="620"/>
                    <a:pt x="490" y="616"/>
                    <a:pt x="490" y="613"/>
                  </a:cubicBezTo>
                  <a:cubicBezTo>
                    <a:pt x="489" y="610"/>
                    <a:pt x="489" y="608"/>
                    <a:pt x="489" y="608"/>
                  </a:cubicBezTo>
                  <a:cubicBezTo>
                    <a:pt x="489" y="605"/>
                    <a:pt x="491" y="602"/>
                    <a:pt x="494" y="600"/>
                  </a:cubicBezTo>
                  <a:cubicBezTo>
                    <a:pt x="494" y="600"/>
                    <a:pt x="495" y="599"/>
                    <a:pt x="497" y="598"/>
                  </a:cubicBezTo>
                  <a:cubicBezTo>
                    <a:pt x="498" y="597"/>
                    <a:pt x="501" y="596"/>
                    <a:pt x="503" y="594"/>
                  </a:cubicBezTo>
                  <a:cubicBezTo>
                    <a:pt x="508" y="591"/>
                    <a:pt x="512" y="589"/>
                    <a:pt x="512" y="589"/>
                  </a:cubicBezTo>
                  <a:cubicBezTo>
                    <a:pt x="512" y="589"/>
                    <a:pt x="516" y="585"/>
                    <a:pt x="521" y="582"/>
                  </a:cubicBezTo>
                  <a:cubicBezTo>
                    <a:pt x="523" y="581"/>
                    <a:pt x="525" y="579"/>
                    <a:pt x="527" y="578"/>
                  </a:cubicBezTo>
                  <a:cubicBezTo>
                    <a:pt x="528" y="576"/>
                    <a:pt x="529" y="576"/>
                    <a:pt x="529" y="576"/>
                  </a:cubicBezTo>
                  <a:cubicBezTo>
                    <a:pt x="532" y="574"/>
                    <a:pt x="535" y="573"/>
                    <a:pt x="538" y="574"/>
                  </a:cubicBezTo>
                  <a:cubicBezTo>
                    <a:pt x="538" y="574"/>
                    <a:pt x="540" y="575"/>
                    <a:pt x="543" y="576"/>
                  </a:cubicBezTo>
                  <a:cubicBezTo>
                    <a:pt x="546" y="577"/>
                    <a:pt x="550" y="579"/>
                    <a:pt x="553" y="580"/>
                  </a:cubicBezTo>
                  <a:cubicBezTo>
                    <a:pt x="561" y="583"/>
                    <a:pt x="569" y="586"/>
                    <a:pt x="569" y="586"/>
                  </a:cubicBezTo>
                  <a:cubicBezTo>
                    <a:pt x="572" y="587"/>
                    <a:pt x="576" y="586"/>
                    <a:pt x="578" y="583"/>
                  </a:cubicBezTo>
                  <a:cubicBezTo>
                    <a:pt x="578" y="583"/>
                    <a:pt x="580" y="582"/>
                    <a:pt x="581" y="580"/>
                  </a:cubicBezTo>
                  <a:cubicBezTo>
                    <a:pt x="583" y="578"/>
                    <a:pt x="586" y="576"/>
                    <a:pt x="588" y="574"/>
                  </a:cubicBezTo>
                  <a:cubicBezTo>
                    <a:pt x="592" y="569"/>
                    <a:pt x="597" y="564"/>
                    <a:pt x="597" y="564"/>
                  </a:cubicBezTo>
                  <a:cubicBezTo>
                    <a:pt x="599" y="561"/>
                    <a:pt x="600" y="557"/>
                    <a:pt x="599" y="554"/>
                  </a:cubicBezTo>
                  <a:cubicBezTo>
                    <a:pt x="599" y="554"/>
                    <a:pt x="596" y="547"/>
                    <a:pt x="593" y="539"/>
                  </a:cubicBezTo>
                  <a:cubicBezTo>
                    <a:pt x="590" y="531"/>
                    <a:pt x="586" y="524"/>
                    <a:pt x="586" y="524"/>
                  </a:cubicBezTo>
                  <a:cubicBezTo>
                    <a:pt x="585" y="521"/>
                    <a:pt x="585" y="518"/>
                    <a:pt x="587" y="515"/>
                  </a:cubicBezTo>
                  <a:cubicBezTo>
                    <a:pt x="587" y="515"/>
                    <a:pt x="588" y="514"/>
                    <a:pt x="589" y="512"/>
                  </a:cubicBezTo>
                  <a:cubicBezTo>
                    <a:pt x="590" y="511"/>
                    <a:pt x="592" y="508"/>
                    <a:pt x="593" y="506"/>
                  </a:cubicBezTo>
                  <a:cubicBezTo>
                    <a:pt x="595" y="504"/>
                    <a:pt x="596" y="502"/>
                    <a:pt x="597" y="500"/>
                  </a:cubicBezTo>
                  <a:cubicBezTo>
                    <a:pt x="598" y="498"/>
                    <a:pt x="599" y="497"/>
                    <a:pt x="599" y="497"/>
                  </a:cubicBezTo>
                  <a:cubicBezTo>
                    <a:pt x="599" y="497"/>
                    <a:pt x="600" y="496"/>
                    <a:pt x="601" y="494"/>
                  </a:cubicBezTo>
                  <a:cubicBezTo>
                    <a:pt x="602" y="493"/>
                    <a:pt x="603" y="490"/>
                    <a:pt x="604" y="488"/>
                  </a:cubicBezTo>
                  <a:cubicBezTo>
                    <a:pt x="607" y="483"/>
                    <a:pt x="610" y="478"/>
                    <a:pt x="610" y="478"/>
                  </a:cubicBezTo>
                  <a:cubicBezTo>
                    <a:pt x="611" y="476"/>
                    <a:pt x="614" y="474"/>
                    <a:pt x="617" y="474"/>
                  </a:cubicBezTo>
                  <a:cubicBezTo>
                    <a:pt x="617" y="474"/>
                    <a:pt x="625" y="473"/>
                    <a:pt x="634" y="473"/>
                  </a:cubicBezTo>
                  <a:cubicBezTo>
                    <a:pt x="638" y="473"/>
                    <a:pt x="642" y="472"/>
                    <a:pt x="645" y="472"/>
                  </a:cubicBezTo>
                  <a:cubicBezTo>
                    <a:pt x="648" y="472"/>
                    <a:pt x="650" y="471"/>
                    <a:pt x="650" y="471"/>
                  </a:cubicBezTo>
                  <a:cubicBezTo>
                    <a:pt x="653" y="471"/>
                    <a:pt x="656" y="469"/>
                    <a:pt x="657" y="465"/>
                  </a:cubicBezTo>
                  <a:cubicBezTo>
                    <a:pt x="657" y="465"/>
                    <a:pt x="658" y="464"/>
                    <a:pt x="659" y="461"/>
                  </a:cubicBezTo>
                  <a:cubicBezTo>
                    <a:pt x="660" y="459"/>
                    <a:pt x="661" y="456"/>
                    <a:pt x="662" y="453"/>
                  </a:cubicBezTo>
                  <a:cubicBezTo>
                    <a:pt x="663" y="450"/>
                    <a:pt x="664" y="446"/>
                    <a:pt x="665" y="444"/>
                  </a:cubicBezTo>
                  <a:cubicBezTo>
                    <a:pt x="666" y="442"/>
                    <a:pt x="666" y="440"/>
                    <a:pt x="666" y="440"/>
                  </a:cubicBezTo>
                  <a:cubicBezTo>
                    <a:pt x="667" y="436"/>
                    <a:pt x="667" y="433"/>
                    <a:pt x="664" y="430"/>
                  </a:cubicBezTo>
                  <a:cubicBezTo>
                    <a:pt x="664" y="430"/>
                    <a:pt x="659" y="425"/>
                    <a:pt x="653" y="419"/>
                  </a:cubicBezTo>
                  <a:cubicBezTo>
                    <a:pt x="650" y="416"/>
                    <a:pt x="647" y="413"/>
                    <a:pt x="644" y="411"/>
                  </a:cubicBezTo>
                  <a:cubicBezTo>
                    <a:pt x="642" y="409"/>
                    <a:pt x="640" y="408"/>
                    <a:pt x="640" y="408"/>
                  </a:cubicBezTo>
                  <a:cubicBezTo>
                    <a:pt x="638" y="406"/>
                    <a:pt x="637" y="403"/>
                    <a:pt x="637" y="400"/>
                  </a:cubicBezTo>
                  <a:cubicBezTo>
                    <a:pt x="637" y="400"/>
                    <a:pt x="638" y="398"/>
                    <a:pt x="638" y="396"/>
                  </a:cubicBezTo>
                  <a:cubicBezTo>
                    <a:pt x="639" y="394"/>
                    <a:pt x="639" y="392"/>
                    <a:pt x="639" y="389"/>
                  </a:cubicBezTo>
                  <a:cubicBezTo>
                    <a:pt x="640" y="386"/>
                    <a:pt x="640" y="384"/>
                    <a:pt x="641" y="382"/>
                  </a:cubicBezTo>
                  <a:cubicBezTo>
                    <a:pt x="641" y="380"/>
                    <a:pt x="641" y="378"/>
                    <a:pt x="641" y="378"/>
                  </a:cubicBezTo>
                  <a:cubicBezTo>
                    <a:pt x="641" y="378"/>
                    <a:pt x="642" y="373"/>
                    <a:pt x="642" y="368"/>
                  </a:cubicBezTo>
                  <a:cubicBezTo>
                    <a:pt x="643" y="365"/>
                    <a:pt x="643" y="362"/>
                    <a:pt x="643" y="360"/>
                  </a:cubicBezTo>
                  <a:cubicBezTo>
                    <a:pt x="643" y="358"/>
                    <a:pt x="643" y="357"/>
                    <a:pt x="643" y="357"/>
                  </a:cubicBezTo>
                  <a:cubicBezTo>
                    <a:pt x="643" y="354"/>
                    <a:pt x="645" y="351"/>
                    <a:pt x="648" y="349"/>
                  </a:cubicBezTo>
                  <a:cubicBezTo>
                    <a:pt x="648" y="349"/>
                    <a:pt x="655" y="346"/>
                    <a:pt x="663" y="342"/>
                  </a:cubicBezTo>
                  <a:cubicBezTo>
                    <a:pt x="666" y="340"/>
                    <a:pt x="670" y="338"/>
                    <a:pt x="673" y="337"/>
                  </a:cubicBezTo>
                  <a:cubicBezTo>
                    <a:pt x="675" y="335"/>
                    <a:pt x="677" y="334"/>
                    <a:pt x="677" y="334"/>
                  </a:cubicBezTo>
                  <a:cubicBezTo>
                    <a:pt x="680" y="332"/>
                    <a:pt x="682" y="329"/>
                    <a:pt x="682" y="325"/>
                  </a:cubicBezTo>
                  <a:cubicBezTo>
                    <a:pt x="682" y="325"/>
                    <a:pt x="681" y="319"/>
                    <a:pt x="681" y="312"/>
                  </a:cubicBezTo>
                  <a:cubicBezTo>
                    <a:pt x="681" y="309"/>
                    <a:pt x="680" y="305"/>
                    <a:pt x="680" y="303"/>
                  </a:cubicBezTo>
                  <a:cubicBezTo>
                    <a:pt x="680" y="300"/>
                    <a:pt x="680" y="299"/>
                    <a:pt x="680" y="299"/>
                  </a:cubicBezTo>
                  <a:cubicBezTo>
                    <a:pt x="679" y="295"/>
                    <a:pt x="677" y="292"/>
                    <a:pt x="674" y="291"/>
                  </a:cubicBezTo>
                  <a:cubicBezTo>
                    <a:pt x="674" y="291"/>
                    <a:pt x="666" y="288"/>
                    <a:pt x="658" y="285"/>
                  </a:cubicBezTo>
                  <a:cubicBezTo>
                    <a:pt x="651" y="282"/>
                    <a:pt x="643" y="280"/>
                    <a:pt x="643" y="280"/>
                  </a:cubicBezTo>
                  <a:cubicBezTo>
                    <a:pt x="640" y="279"/>
                    <a:pt x="638" y="277"/>
                    <a:pt x="637" y="273"/>
                  </a:cubicBezTo>
                  <a:cubicBezTo>
                    <a:pt x="637" y="273"/>
                    <a:pt x="636" y="268"/>
                    <a:pt x="634" y="263"/>
                  </a:cubicBezTo>
                  <a:cubicBezTo>
                    <a:pt x="633" y="258"/>
                    <a:pt x="631" y="253"/>
                    <a:pt x="631" y="253"/>
                  </a:cubicBezTo>
                  <a:cubicBezTo>
                    <a:pt x="631" y="253"/>
                    <a:pt x="631" y="251"/>
                    <a:pt x="630" y="249"/>
                  </a:cubicBezTo>
                  <a:cubicBezTo>
                    <a:pt x="630" y="247"/>
                    <a:pt x="629" y="245"/>
                    <a:pt x="628" y="242"/>
                  </a:cubicBezTo>
                  <a:cubicBezTo>
                    <a:pt x="627" y="240"/>
                    <a:pt x="626" y="237"/>
                    <a:pt x="626" y="235"/>
                  </a:cubicBezTo>
                  <a:cubicBezTo>
                    <a:pt x="625" y="233"/>
                    <a:pt x="625" y="232"/>
                    <a:pt x="625" y="232"/>
                  </a:cubicBezTo>
                  <a:cubicBezTo>
                    <a:pt x="623" y="229"/>
                    <a:pt x="624" y="226"/>
                    <a:pt x="626" y="223"/>
                  </a:cubicBezTo>
                  <a:cubicBezTo>
                    <a:pt x="626" y="223"/>
                    <a:pt x="627" y="222"/>
                    <a:pt x="629" y="219"/>
                  </a:cubicBezTo>
                  <a:cubicBezTo>
                    <a:pt x="631" y="217"/>
                    <a:pt x="634" y="214"/>
                    <a:pt x="636" y="211"/>
                  </a:cubicBezTo>
                  <a:cubicBezTo>
                    <a:pt x="641" y="204"/>
                    <a:pt x="646" y="197"/>
                    <a:pt x="646" y="197"/>
                  </a:cubicBezTo>
                  <a:cubicBezTo>
                    <a:pt x="648" y="195"/>
                    <a:pt x="649" y="191"/>
                    <a:pt x="647" y="188"/>
                  </a:cubicBezTo>
                  <a:cubicBezTo>
                    <a:pt x="647" y="188"/>
                    <a:pt x="644" y="182"/>
                    <a:pt x="641" y="176"/>
                  </a:cubicBezTo>
                  <a:cubicBezTo>
                    <a:pt x="637" y="170"/>
                    <a:pt x="634" y="164"/>
                    <a:pt x="634" y="164"/>
                  </a:cubicBezTo>
                  <a:cubicBezTo>
                    <a:pt x="632" y="161"/>
                    <a:pt x="629" y="159"/>
                    <a:pt x="626" y="159"/>
                  </a:cubicBezTo>
                  <a:cubicBezTo>
                    <a:pt x="626" y="159"/>
                    <a:pt x="617" y="160"/>
                    <a:pt x="609" y="160"/>
                  </a:cubicBezTo>
                  <a:cubicBezTo>
                    <a:pt x="605" y="161"/>
                    <a:pt x="601" y="161"/>
                    <a:pt x="598" y="162"/>
                  </a:cubicBezTo>
                  <a:cubicBezTo>
                    <a:pt x="595" y="162"/>
                    <a:pt x="593" y="162"/>
                    <a:pt x="593" y="162"/>
                  </a:cubicBezTo>
                  <a:cubicBezTo>
                    <a:pt x="590" y="163"/>
                    <a:pt x="587" y="161"/>
                    <a:pt x="585" y="159"/>
                  </a:cubicBezTo>
                  <a:cubicBezTo>
                    <a:pt x="585" y="159"/>
                    <a:pt x="582" y="154"/>
                    <a:pt x="578" y="150"/>
                  </a:cubicBezTo>
                  <a:cubicBezTo>
                    <a:pt x="576" y="148"/>
                    <a:pt x="575" y="146"/>
                    <a:pt x="573" y="144"/>
                  </a:cubicBezTo>
                  <a:cubicBezTo>
                    <a:pt x="572" y="143"/>
                    <a:pt x="571" y="142"/>
                    <a:pt x="571" y="142"/>
                  </a:cubicBezTo>
                  <a:cubicBezTo>
                    <a:pt x="571" y="142"/>
                    <a:pt x="568" y="138"/>
                    <a:pt x="564" y="134"/>
                  </a:cubicBezTo>
                  <a:cubicBezTo>
                    <a:pt x="562" y="132"/>
                    <a:pt x="561" y="130"/>
                    <a:pt x="559" y="128"/>
                  </a:cubicBezTo>
                  <a:cubicBezTo>
                    <a:pt x="558" y="127"/>
                    <a:pt x="557" y="126"/>
                    <a:pt x="557" y="126"/>
                  </a:cubicBezTo>
                  <a:cubicBezTo>
                    <a:pt x="554" y="123"/>
                    <a:pt x="554" y="120"/>
                    <a:pt x="555" y="117"/>
                  </a:cubicBezTo>
                  <a:cubicBezTo>
                    <a:pt x="555" y="117"/>
                    <a:pt x="555" y="115"/>
                    <a:pt x="556" y="112"/>
                  </a:cubicBezTo>
                  <a:cubicBezTo>
                    <a:pt x="557" y="109"/>
                    <a:pt x="558" y="105"/>
                    <a:pt x="559" y="101"/>
                  </a:cubicBezTo>
                  <a:cubicBezTo>
                    <a:pt x="561" y="93"/>
                    <a:pt x="563" y="85"/>
                    <a:pt x="563" y="85"/>
                  </a:cubicBezTo>
                  <a:cubicBezTo>
                    <a:pt x="563" y="82"/>
                    <a:pt x="562" y="79"/>
                    <a:pt x="559" y="76"/>
                  </a:cubicBezTo>
                  <a:cubicBezTo>
                    <a:pt x="559" y="76"/>
                    <a:pt x="558" y="75"/>
                    <a:pt x="556" y="74"/>
                  </a:cubicBezTo>
                  <a:cubicBezTo>
                    <a:pt x="554" y="72"/>
                    <a:pt x="551" y="70"/>
                    <a:pt x="549" y="68"/>
                  </a:cubicBezTo>
                  <a:cubicBezTo>
                    <a:pt x="546" y="66"/>
                    <a:pt x="543" y="64"/>
                    <a:pt x="541" y="62"/>
                  </a:cubicBezTo>
                  <a:cubicBezTo>
                    <a:pt x="539" y="61"/>
                    <a:pt x="538" y="60"/>
                    <a:pt x="538" y="60"/>
                  </a:cubicBezTo>
                  <a:cubicBezTo>
                    <a:pt x="535" y="58"/>
                    <a:pt x="531" y="57"/>
                    <a:pt x="528" y="59"/>
                  </a:cubicBezTo>
                  <a:cubicBezTo>
                    <a:pt x="528" y="59"/>
                    <a:pt x="521" y="62"/>
                    <a:pt x="514" y="66"/>
                  </a:cubicBezTo>
                  <a:cubicBezTo>
                    <a:pt x="506" y="70"/>
                    <a:pt x="499" y="75"/>
                    <a:pt x="499" y="75"/>
                  </a:cubicBezTo>
                  <a:cubicBezTo>
                    <a:pt x="497" y="76"/>
                    <a:pt x="493" y="76"/>
                    <a:pt x="490" y="75"/>
                  </a:cubicBezTo>
                  <a:cubicBezTo>
                    <a:pt x="490" y="75"/>
                    <a:pt x="486" y="72"/>
                    <a:pt x="481" y="70"/>
                  </a:cubicBezTo>
                  <a:cubicBezTo>
                    <a:pt x="479" y="68"/>
                    <a:pt x="476" y="67"/>
                    <a:pt x="474" y="66"/>
                  </a:cubicBezTo>
                  <a:cubicBezTo>
                    <a:pt x="473" y="65"/>
                    <a:pt x="471" y="65"/>
                    <a:pt x="471" y="65"/>
                  </a:cubicBezTo>
                  <a:cubicBezTo>
                    <a:pt x="471" y="65"/>
                    <a:pt x="470" y="64"/>
                    <a:pt x="468" y="63"/>
                  </a:cubicBezTo>
                  <a:cubicBezTo>
                    <a:pt x="466" y="62"/>
                    <a:pt x="464" y="61"/>
                    <a:pt x="462" y="60"/>
                  </a:cubicBezTo>
                  <a:cubicBezTo>
                    <a:pt x="459" y="59"/>
                    <a:pt x="457" y="58"/>
                    <a:pt x="455" y="57"/>
                  </a:cubicBezTo>
                  <a:cubicBezTo>
                    <a:pt x="453" y="57"/>
                    <a:pt x="452" y="56"/>
                    <a:pt x="452" y="56"/>
                  </a:cubicBezTo>
                  <a:cubicBezTo>
                    <a:pt x="449" y="55"/>
                    <a:pt x="446" y="52"/>
                    <a:pt x="446" y="49"/>
                  </a:cubicBezTo>
                  <a:cubicBezTo>
                    <a:pt x="446" y="49"/>
                    <a:pt x="445" y="41"/>
                    <a:pt x="444" y="33"/>
                  </a:cubicBezTo>
                  <a:cubicBezTo>
                    <a:pt x="442" y="25"/>
                    <a:pt x="440" y="17"/>
                    <a:pt x="440" y="17"/>
                  </a:cubicBezTo>
                  <a:cubicBezTo>
                    <a:pt x="440" y="14"/>
                    <a:pt x="437" y="11"/>
                    <a:pt x="433" y="10"/>
                  </a:cubicBezTo>
                  <a:cubicBezTo>
                    <a:pt x="433" y="10"/>
                    <a:pt x="427" y="8"/>
                    <a:pt x="421" y="7"/>
                  </a:cubicBezTo>
                  <a:cubicBezTo>
                    <a:pt x="417" y="6"/>
                    <a:pt x="414" y="5"/>
                    <a:pt x="412" y="5"/>
                  </a:cubicBezTo>
                  <a:cubicBezTo>
                    <a:pt x="409" y="4"/>
                    <a:pt x="407" y="4"/>
                    <a:pt x="407" y="4"/>
                  </a:cubicBezTo>
                  <a:cubicBezTo>
                    <a:pt x="404" y="3"/>
                    <a:pt x="400" y="4"/>
                    <a:pt x="398" y="7"/>
                  </a:cubicBezTo>
                  <a:cubicBezTo>
                    <a:pt x="398" y="7"/>
                    <a:pt x="393" y="13"/>
                    <a:pt x="388" y="20"/>
                  </a:cubicBezTo>
                  <a:cubicBezTo>
                    <a:pt x="383" y="26"/>
                    <a:pt x="378" y="33"/>
                    <a:pt x="378" y="33"/>
                  </a:cubicBezTo>
                  <a:cubicBezTo>
                    <a:pt x="377" y="36"/>
                    <a:pt x="374" y="37"/>
                    <a:pt x="370" y="37"/>
                  </a:cubicBezTo>
                  <a:cubicBezTo>
                    <a:pt x="370" y="37"/>
                    <a:pt x="369" y="36"/>
                    <a:pt x="367" y="36"/>
                  </a:cubicBezTo>
                  <a:cubicBezTo>
                    <a:pt x="365" y="36"/>
                    <a:pt x="362" y="36"/>
                    <a:pt x="360" y="36"/>
                  </a:cubicBezTo>
                  <a:cubicBezTo>
                    <a:pt x="357" y="36"/>
                    <a:pt x="354" y="35"/>
                    <a:pt x="352" y="35"/>
                  </a:cubicBezTo>
                  <a:cubicBezTo>
                    <a:pt x="350" y="35"/>
                    <a:pt x="349" y="35"/>
                    <a:pt x="349" y="35"/>
                  </a:cubicBezTo>
                  <a:cubicBezTo>
                    <a:pt x="349" y="35"/>
                    <a:pt x="343" y="35"/>
                    <a:pt x="338" y="35"/>
                  </a:cubicBezTo>
                  <a:cubicBezTo>
                    <a:pt x="333" y="35"/>
                    <a:pt x="327" y="35"/>
                    <a:pt x="327" y="35"/>
                  </a:cubicBezTo>
                  <a:cubicBezTo>
                    <a:pt x="324" y="35"/>
                    <a:pt x="321" y="34"/>
                    <a:pt x="319" y="31"/>
                  </a:cubicBezTo>
                  <a:cubicBezTo>
                    <a:pt x="319" y="31"/>
                    <a:pt x="315" y="24"/>
                    <a:pt x="310" y="17"/>
                  </a:cubicBezTo>
                  <a:cubicBezTo>
                    <a:pt x="308" y="14"/>
                    <a:pt x="306" y="11"/>
                    <a:pt x="304" y="8"/>
                  </a:cubicBezTo>
                  <a:cubicBezTo>
                    <a:pt x="302" y="6"/>
                    <a:pt x="301" y="4"/>
                    <a:pt x="301" y="4"/>
                  </a:cubicBezTo>
                  <a:cubicBezTo>
                    <a:pt x="299" y="1"/>
                    <a:pt x="295" y="0"/>
                    <a:pt x="292" y="1"/>
                  </a:cubicBezTo>
                  <a:cubicBezTo>
                    <a:pt x="292" y="1"/>
                    <a:pt x="290" y="1"/>
                    <a:pt x="288" y="1"/>
                  </a:cubicBezTo>
                  <a:cubicBezTo>
                    <a:pt x="285" y="2"/>
                    <a:pt x="282" y="2"/>
                    <a:pt x="279" y="3"/>
                  </a:cubicBezTo>
                  <a:cubicBezTo>
                    <a:pt x="272" y="4"/>
                    <a:pt x="266" y="5"/>
                    <a:pt x="266" y="5"/>
                  </a:cubicBezTo>
                  <a:cubicBezTo>
                    <a:pt x="262" y="6"/>
                    <a:pt x="259" y="9"/>
                    <a:pt x="258" y="12"/>
                  </a:cubicBezTo>
                  <a:cubicBezTo>
                    <a:pt x="258" y="12"/>
                    <a:pt x="258" y="14"/>
                    <a:pt x="257" y="17"/>
                  </a:cubicBezTo>
                  <a:cubicBezTo>
                    <a:pt x="256" y="20"/>
                    <a:pt x="255" y="24"/>
                    <a:pt x="254" y="28"/>
                  </a:cubicBezTo>
                  <a:cubicBezTo>
                    <a:pt x="252" y="36"/>
                    <a:pt x="251" y="44"/>
                    <a:pt x="251" y="44"/>
                  </a:cubicBezTo>
                  <a:cubicBezTo>
                    <a:pt x="250" y="47"/>
                    <a:pt x="248" y="50"/>
                    <a:pt x="245" y="51"/>
                  </a:cubicBezTo>
                  <a:cubicBezTo>
                    <a:pt x="245" y="51"/>
                    <a:pt x="244" y="51"/>
                    <a:pt x="242" y="52"/>
                  </a:cubicBezTo>
                  <a:cubicBezTo>
                    <a:pt x="240" y="52"/>
                    <a:pt x="237" y="53"/>
                    <a:pt x="235" y="54"/>
                  </a:cubicBezTo>
                  <a:cubicBezTo>
                    <a:pt x="230" y="56"/>
                    <a:pt x="225" y="58"/>
                    <a:pt x="225" y="58"/>
                  </a:cubicBezTo>
                  <a:cubicBezTo>
                    <a:pt x="225" y="58"/>
                    <a:pt x="224" y="58"/>
                    <a:pt x="224" y="58"/>
                  </a:cubicBezTo>
                  <a:cubicBezTo>
                    <a:pt x="223" y="59"/>
                    <a:pt x="223" y="59"/>
                    <a:pt x="222" y="59"/>
                  </a:cubicBezTo>
                  <a:cubicBezTo>
                    <a:pt x="220" y="60"/>
                    <a:pt x="217" y="61"/>
                    <a:pt x="215" y="62"/>
                  </a:cubicBezTo>
                  <a:cubicBezTo>
                    <a:pt x="212" y="64"/>
                    <a:pt x="210" y="65"/>
                    <a:pt x="208" y="66"/>
                  </a:cubicBezTo>
                  <a:cubicBezTo>
                    <a:pt x="206" y="66"/>
                    <a:pt x="205" y="67"/>
                    <a:pt x="205" y="67"/>
                  </a:cubicBezTo>
                  <a:cubicBezTo>
                    <a:pt x="202" y="69"/>
                    <a:pt x="199" y="68"/>
                    <a:pt x="196" y="67"/>
                  </a:cubicBezTo>
                  <a:cubicBezTo>
                    <a:pt x="196" y="67"/>
                    <a:pt x="189" y="62"/>
                    <a:pt x="182" y="58"/>
                  </a:cubicBezTo>
                  <a:cubicBezTo>
                    <a:pt x="176" y="53"/>
                    <a:pt x="168" y="49"/>
                    <a:pt x="168" y="49"/>
                  </a:cubicBezTo>
                  <a:cubicBezTo>
                    <a:pt x="165" y="47"/>
                    <a:pt x="162" y="48"/>
                    <a:pt x="159" y="50"/>
                  </a:cubicBezTo>
                  <a:cubicBezTo>
                    <a:pt x="159" y="50"/>
                    <a:pt x="153" y="53"/>
                    <a:pt x="147" y="57"/>
                  </a:cubicBezTo>
                  <a:cubicBezTo>
                    <a:pt x="142" y="61"/>
                    <a:pt x="137" y="65"/>
                    <a:pt x="137" y="65"/>
                  </a:cubicBezTo>
                  <a:cubicBezTo>
                    <a:pt x="134" y="67"/>
                    <a:pt x="132" y="70"/>
                    <a:pt x="133" y="74"/>
                  </a:cubicBezTo>
                  <a:cubicBezTo>
                    <a:pt x="133" y="74"/>
                    <a:pt x="134" y="82"/>
                    <a:pt x="135" y="90"/>
                  </a:cubicBezTo>
                  <a:cubicBezTo>
                    <a:pt x="137" y="98"/>
                    <a:pt x="139" y="106"/>
                    <a:pt x="139" y="106"/>
                  </a:cubicBezTo>
                  <a:cubicBezTo>
                    <a:pt x="140" y="109"/>
                    <a:pt x="139" y="112"/>
                    <a:pt x="136" y="114"/>
                  </a:cubicBezTo>
                  <a:cubicBezTo>
                    <a:pt x="136" y="114"/>
                    <a:pt x="135" y="115"/>
                    <a:pt x="134" y="117"/>
                  </a:cubicBezTo>
                  <a:cubicBezTo>
                    <a:pt x="132" y="118"/>
                    <a:pt x="130" y="120"/>
                    <a:pt x="128" y="122"/>
                  </a:cubicBezTo>
                  <a:cubicBezTo>
                    <a:pt x="126" y="124"/>
                    <a:pt x="124" y="126"/>
                    <a:pt x="123" y="127"/>
                  </a:cubicBezTo>
                  <a:cubicBezTo>
                    <a:pt x="122" y="128"/>
                    <a:pt x="122" y="128"/>
                    <a:pt x="121" y="129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1" y="129"/>
                    <a:pt x="117" y="133"/>
                    <a:pt x="113" y="137"/>
                  </a:cubicBezTo>
                  <a:cubicBezTo>
                    <a:pt x="112" y="139"/>
                    <a:pt x="110" y="141"/>
                    <a:pt x="109" y="143"/>
                  </a:cubicBezTo>
                  <a:cubicBezTo>
                    <a:pt x="107" y="145"/>
                    <a:pt x="106" y="146"/>
                    <a:pt x="106" y="146"/>
                  </a:cubicBezTo>
                  <a:cubicBezTo>
                    <a:pt x="104" y="148"/>
                    <a:pt x="101" y="149"/>
                    <a:pt x="98" y="149"/>
                  </a:cubicBezTo>
                  <a:cubicBezTo>
                    <a:pt x="98" y="149"/>
                    <a:pt x="90" y="147"/>
                    <a:pt x="82" y="146"/>
                  </a:cubicBezTo>
                  <a:cubicBezTo>
                    <a:pt x="78" y="145"/>
                    <a:pt x="74" y="145"/>
                    <a:pt x="71" y="145"/>
                  </a:cubicBezTo>
                  <a:cubicBezTo>
                    <a:pt x="67" y="144"/>
                    <a:pt x="65" y="144"/>
                    <a:pt x="65" y="144"/>
                  </a:cubicBezTo>
                  <a:cubicBezTo>
                    <a:pt x="62" y="144"/>
                    <a:pt x="59" y="145"/>
                    <a:pt x="57" y="149"/>
                  </a:cubicBezTo>
                  <a:cubicBezTo>
                    <a:pt x="57" y="149"/>
                    <a:pt x="53" y="154"/>
                    <a:pt x="50" y="160"/>
                  </a:cubicBezTo>
                  <a:cubicBezTo>
                    <a:pt x="48" y="163"/>
                    <a:pt x="46" y="166"/>
                    <a:pt x="45" y="168"/>
                  </a:cubicBezTo>
                  <a:cubicBezTo>
                    <a:pt x="44" y="170"/>
                    <a:pt x="43" y="171"/>
                    <a:pt x="43" y="171"/>
                  </a:cubicBezTo>
                  <a:cubicBezTo>
                    <a:pt x="41" y="175"/>
                    <a:pt x="41" y="178"/>
                    <a:pt x="43" y="181"/>
                  </a:cubicBezTo>
                  <a:cubicBezTo>
                    <a:pt x="43" y="181"/>
                    <a:pt x="44" y="183"/>
                    <a:pt x="46" y="185"/>
                  </a:cubicBezTo>
                  <a:cubicBezTo>
                    <a:pt x="47" y="188"/>
                    <a:pt x="50" y="191"/>
                    <a:pt x="52" y="195"/>
                  </a:cubicBezTo>
                  <a:cubicBezTo>
                    <a:pt x="57" y="202"/>
                    <a:pt x="62" y="208"/>
                    <a:pt x="62" y="208"/>
                  </a:cubicBezTo>
                  <a:cubicBezTo>
                    <a:pt x="64" y="210"/>
                    <a:pt x="64" y="214"/>
                    <a:pt x="63" y="217"/>
                  </a:cubicBezTo>
                  <a:cubicBezTo>
                    <a:pt x="63" y="217"/>
                    <a:pt x="61" y="222"/>
                    <a:pt x="58" y="227"/>
                  </a:cubicBezTo>
                  <a:cubicBezTo>
                    <a:pt x="57" y="232"/>
                    <a:pt x="55" y="237"/>
                    <a:pt x="55" y="237"/>
                  </a:cubicBezTo>
                  <a:cubicBezTo>
                    <a:pt x="55" y="237"/>
                    <a:pt x="54" y="238"/>
                    <a:pt x="54" y="240"/>
                  </a:cubicBezTo>
                  <a:cubicBezTo>
                    <a:pt x="53" y="242"/>
                    <a:pt x="52" y="245"/>
                    <a:pt x="51" y="247"/>
                  </a:cubicBezTo>
                  <a:cubicBezTo>
                    <a:pt x="51" y="250"/>
                    <a:pt x="50" y="252"/>
                    <a:pt x="49" y="254"/>
                  </a:cubicBezTo>
                  <a:cubicBezTo>
                    <a:pt x="49" y="256"/>
                    <a:pt x="48" y="257"/>
                    <a:pt x="48" y="257"/>
                  </a:cubicBezTo>
                  <a:cubicBezTo>
                    <a:pt x="47" y="261"/>
                    <a:pt x="45" y="263"/>
                    <a:pt x="42" y="264"/>
                  </a:cubicBezTo>
                  <a:cubicBezTo>
                    <a:pt x="42" y="264"/>
                    <a:pt x="34" y="266"/>
                    <a:pt x="26" y="268"/>
                  </a:cubicBezTo>
                  <a:cubicBezTo>
                    <a:pt x="18" y="270"/>
                    <a:pt x="10" y="273"/>
                    <a:pt x="10" y="273"/>
                  </a:cubicBezTo>
                  <a:cubicBezTo>
                    <a:pt x="7" y="274"/>
                    <a:pt x="5" y="277"/>
                    <a:pt x="4" y="280"/>
                  </a:cubicBezTo>
                  <a:cubicBezTo>
                    <a:pt x="4" y="280"/>
                    <a:pt x="4" y="282"/>
                    <a:pt x="4" y="284"/>
                  </a:cubicBezTo>
                  <a:cubicBezTo>
                    <a:pt x="3" y="287"/>
                    <a:pt x="3" y="290"/>
                    <a:pt x="2" y="294"/>
                  </a:cubicBezTo>
                  <a:cubicBezTo>
                    <a:pt x="1" y="300"/>
                    <a:pt x="1" y="307"/>
                    <a:pt x="1" y="307"/>
                  </a:cubicBezTo>
                  <a:cubicBezTo>
                    <a:pt x="0" y="310"/>
                    <a:pt x="2" y="314"/>
                    <a:pt x="5" y="316"/>
                  </a:cubicBezTo>
                  <a:cubicBezTo>
                    <a:pt x="5" y="316"/>
                    <a:pt x="11" y="320"/>
                    <a:pt x="18" y="324"/>
                  </a:cubicBezTo>
                  <a:cubicBezTo>
                    <a:pt x="26" y="329"/>
                    <a:pt x="33" y="333"/>
                    <a:pt x="33" y="333"/>
                  </a:cubicBezTo>
                  <a:cubicBezTo>
                    <a:pt x="36" y="334"/>
                    <a:pt x="37" y="337"/>
                    <a:pt x="37" y="340"/>
                  </a:cubicBezTo>
                  <a:cubicBezTo>
                    <a:pt x="37" y="340"/>
                    <a:pt x="37" y="342"/>
                    <a:pt x="37" y="344"/>
                  </a:cubicBezTo>
                  <a:cubicBezTo>
                    <a:pt x="37" y="346"/>
                    <a:pt x="37" y="348"/>
                    <a:pt x="37" y="351"/>
                  </a:cubicBezTo>
                  <a:cubicBezTo>
                    <a:pt x="38" y="354"/>
                    <a:pt x="38" y="357"/>
                    <a:pt x="38" y="359"/>
                  </a:cubicBezTo>
                  <a:cubicBezTo>
                    <a:pt x="38" y="361"/>
                    <a:pt x="38" y="362"/>
                    <a:pt x="38" y="362"/>
                  </a:cubicBezTo>
                  <a:cubicBezTo>
                    <a:pt x="38" y="362"/>
                    <a:pt x="38" y="363"/>
                    <a:pt x="38" y="365"/>
                  </a:cubicBezTo>
                  <a:cubicBezTo>
                    <a:pt x="39" y="367"/>
                    <a:pt x="39" y="370"/>
                    <a:pt x="39" y="373"/>
                  </a:cubicBezTo>
                  <a:cubicBezTo>
                    <a:pt x="40" y="378"/>
                    <a:pt x="41" y="383"/>
                    <a:pt x="41" y="383"/>
                  </a:cubicBezTo>
                  <a:cubicBezTo>
                    <a:pt x="41" y="387"/>
                    <a:pt x="40" y="390"/>
                    <a:pt x="37" y="392"/>
                  </a:cubicBezTo>
                  <a:cubicBezTo>
                    <a:pt x="37" y="392"/>
                    <a:pt x="31" y="397"/>
                    <a:pt x="24" y="402"/>
                  </a:cubicBezTo>
                  <a:cubicBezTo>
                    <a:pt x="18" y="407"/>
                    <a:pt x="12" y="413"/>
                    <a:pt x="12" y="413"/>
                  </a:cubicBezTo>
                  <a:cubicBezTo>
                    <a:pt x="10" y="415"/>
                    <a:pt x="9" y="419"/>
                    <a:pt x="9" y="422"/>
                  </a:cubicBezTo>
                  <a:cubicBezTo>
                    <a:pt x="9" y="422"/>
                    <a:pt x="10" y="424"/>
                    <a:pt x="11" y="426"/>
                  </a:cubicBezTo>
                  <a:cubicBezTo>
                    <a:pt x="11" y="429"/>
                    <a:pt x="12" y="432"/>
                    <a:pt x="13" y="435"/>
                  </a:cubicBezTo>
                  <a:cubicBezTo>
                    <a:pt x="14" y="438"/>
                    <a:pt x="15" y="441"/>
                    <a:pt x="16" y="444"/>
                  </a:cubicBezTo>
                  <a:cubicBezTo>
                    <a:pt x="17" y="446"/>
                    <a:pt x="17" y="448"/>
                    <a:pt x="17" y="448"/>
                  </a:cubicBezTo>
                  <a:cubicBezTo>
                    <a:pt x="18" y="451"/>
                    <a:pt x="21" y="454"/>
                    <a:pt x="24" y="454"/>
                  </a:cubicBezTo>
                  <a:cubicBezTo>
                    <a:pt x="24" y="454"/>
                    <a:pt x="33" y="456"/>
                    <a:pt x="41" y="457"/>
                  </a:cubicBezTo>
                  <a:cubicBezTo>
                    <a:pt x="45" y="457"/>
                    <a:pt x="49" y="458"/>
                    <a:pt x="52" y="458"/>
                  </a:cubicBezTo>
                  <a:cubicBezTo>
                    <a:pt x="55" y="458"/>
                    <a:pt x="57" y="458"/>
                    <a:pt x="57" y="458"/>
                  </a:cubicBezTo>
                  <a:cubicBezTo>
                    <a:pt x="60" y="459"/>
                    <a:pt x="63" y="461"/>
                    <a:pt x="64" y="464"/>
                  </a:cubicBezTo>
                  <a:cubicBezTo>
                    <a:pt x="64" y="464"/>
                    <a:pt x="65" y="465"/>
                    <a:pt x="66" y="467"/>
                  </a:cubicBezTo>
                  <a:cubicBezTo>
                    <a:pt x="66" y="468"/>
                    <a:pt x="68" y="471"/>
                    <a:pt x="69" y="473"/>
                  </a:cubicBezTo>
                  <a:cubicBezTo>
                    <a:pt x="71" y="478"/>
                    <a:pt x="74" y="483"/>
                    <a:pt x="74" y="483"/>
                  </a:cubicBezTo>
                  <a:cubicBezTo>
                    <a:pt x="74" y="483"/>
                    <a:pt x="74" y="484"/>
                    <a:pt x="75" y="486"/>
                  </a:cubicBezTo>
                  <a:cubicBezTo>
                    <a:pt x="76" y="488"/>
                    <a:pt x="78" y="490"/>
                    <a:pt x="79" y="492"/>
                  </a:cubicBezTo>
                  <a:cubicBezTo>
                    <a:pt x="82" y="497"/>
                    <a:pt x="85" y="501"/>
                    <a:pt x="85" y="501"/>
                  </a:cubicBezTo>
                  <a:cubicBezTo>
                    <a:pt x="87" y="504"/>
                    <a:pt x="87" y="508"/>
                    <a:pt x="85" y="510"/>
                  </a:cubicBezTo>
                  <a:cubicBezTo>
                    <a:pt x="85" y="510"/>
                    <a:pt x="84" y="512"/>
                    <a:pt x="83" y="515"/>
                  </a:cubicBezTo>
                  <a:cubicBezTo>
                    <a:pt x="81" y="518"/>
                    <a:pt x="79" y="521"/>
                    <a:pt x="78" y="525"/>
                  </a:cubicBezTo>
                  <a:cubicBezTo>
                    <a:pt x="74" y="532"/>
                    <a:pt x="71" y="540"/>
                    <a:pt x="71" y="540"/>
                  </a:cubicBezTo>
                  <a:cubicBezTo>
                    <a:pt x="69" y="543"/>
                    <a:pt x="70" y="547"/>
                    <a:pt x="72" y="549"/>
                  </a:cubicBezTo>
                  <a:cubicBezTo>
                    <a:pt x="72" y="549"/>
                    <a:pt x="76" y="555"/>
                    <a:pt x="81" y="560"/>
                  </a:cubicBezTo>
                  <a:cubicBezTo>
                    <a:pt x="85" y="565"/>
                    <a:pt x="90" y="570"/>
                    <a:pt x="90" y="570"/>
                  </a:cubicBezTo>
                  <a:cubicBezTo>
                    <a:pt x="92" y="573"/>
                    <a:pt x="96" y="574"/>
                    <a:pt x="99" y="573"/>
                  </a:cubicBezTo>
                  <a:cubicBezTo>
                    <a:pt x="99" y="573"/>
                    <a:pt x="107" y="571"/>
                    <a:pt x="115" y="568"/>
                  </a:cubicBezTo>
                  <a:cubicBezTo>
                    <a:pt x="119" y="567"/>
                    <a:pt x="122" y="566"/>
                    <a:pt x="125" y="565"/>
                  </a:cubicBezTo>
                  <a:cubicBezTo>
                    <a:pt x="128" y="564"/>
                    <a:pt x="130" y="563"/>
                    <a:pt x="130" y="563"/>
                  </a:cubicBezTo>
                  <a:cubicBezTo>
                    <a:pt x="133" y="562"/>
                    <a:pt x="137" y="563"/>
                    <a:pt x="139" y="565"/>
                  </a:cubicBezTo>
                  <a:cubicBezTo>
                    <a:pt x="139" y="565"/>
                    <a:pt x="140" y="566"/>
                    <a:pt x="141" y="567"/>
                  </a:cubicBezTo>
                  <a:cubicBezTo>
                    <a:pt x="143" y="569"/>
                    <a:pt x="145" y="570"/>
                    <a:pt x="147" y="572"/>
                  </a:cubicBezTo>
                  <a:cubicBezTo>
                    <a:pt x="149" y="574"/>
                    <a:pt x="151" y="576"/>
                    <a:pt x="153" y="577"/>
                  </a:cubicBezTo>
                  <a:cubicBezTo>
                    <a:pt x="155" y="578"/>
                    <a:pt x="156" y="579"/>
                    <a:pt x="156" y="579"/>
                  </a:cubicBezTo>
                  <a:cubicBezTo>
                    <a:pt x="156" y="579"/>
                    <a:pt x="160" y="582"/>
                    <a:pt x="164" y="585"/>
                  </a:cubicBezTo>
                  <a:cubicBezTo>
                    <a:pt x="169" y="588"/>
                    <a:pt x="173" y="591"/>
                    <a:pt x="173" y="591"/>
                  </a:cubicBezTo>
                  <a:cubicBezTo>
                    <a:pt x="176" y="593"/>
                    <a:pt x="177" y="596"/>
                    <a:pt x="177" y="599"/>
                  </a:cubicBezTo>
                  <a:cubicBezTo>
                    <a:pt x="177" y="599"/>
                    <a:pt x="177" y="607"/>
                    <a:pt x="176" y="616"/>
                  </a:cubicBezTo>
                  <a:cubicBezTo>
                    <a:pt x="176" y="624"/>
                    <a:pt x="176" y="632"/>
                    <a:pt x="176" y="632"/>
                  </a:cubicBezTo>
                  <a:cubicBezTo>
                    <a:pt x="176" y="635"/>
                    <a:pt x="178" y="639"/>
                    <a:pt x="181" y="640"/>
                  </a:cubicBezTo>
                  <a:cubicBezTo>
                    <a:pt x="181" y="640"/>
                    <a:pt x="183" y="641"/>
                    <a:pt x="185" y="642"/>
                  </a:cubicBezTo>
                  <a:cubicBezTo>
                    <a:pt x="187" y="643"/>
                    <a:pt x="190" y="645"/>
                    <a:pt x="193" y="646"/>
                  </a:cubicBezTo>
                  <a:cubicBezTo>
                    <a:pt x="199" y="649"/>
                    <a:pt x="205" y="652"/>
                    <a:pt x="205" y="652"/>
                  </a:cubicBezTo>
                  <a:cubicBezTo>
                    <a:pt x="209" y="653"/>
                    <a:pt x="213" y="653"/>
                    <a:pt x="215" y="651"/>
                  </a:cubicBezTo>
                  <a:cubicBezTo>
                    <a:pt x="215" y="651"/>
                    <a:pt x="217" y="650"/>
                    <a:pt x="219" y="648"/>
                  </a:cubicBezTo>
                  <a:cubicBezTo>
                    <a:pt x="222" y="646"/>
                    <a:pt x="225" y="643"/>
                    <a:pt x="228" y="640"/>
                  </a:cubicBezTo>
                  <a:cubicBezTo>
                    <a:pt x="234" y="635"/>
                    <a:pt x="240" y="629"/>
                    <a:pt x="240" y="629"/>
                  </a:cubicBezTo>
                  <a:cubicBezTo>
                    <a:pt x="242" y="627"/>
                    <a:pt x="246" y="626"/>
                    <a:pt x="249" y="627"/>
                  </a:cubicBezTo>
                  <a:cubicBezTo>
                    <a:pt x="249" y="627"/>
                    <a:pt x="250" y="628"/>
                    <a:pt x="252" y="628"/>
                  </a:cubicBezTo>
                  <a:cubicBezTo>
                    <a:pt x="254" y="629"/>
                    <a:pt x="256" y="630"/>
                    <a:pt x="259" y="631"/>
                  </a:cubicBezTo>
                  <a:cubicBezTo>
                    <a:pt x="264" y="632"/>
                    <a:pt x="269" y="633"/>
                    <a:pt x="269" y="633"/>
                  </a:cubicBezTo>
                  <a:cubicBezTo>
                    <a:pt x="269" y="633"/>
                    <a:pt x="271" y="634"/>
                    <a:pt x="273" y="634"/>
                  </a:cubicBezTo>
                  <a:cubicBezTo>
                    <a:pt x="275" y="634"/>
                    <a:pt x="277" y="635"/>
                    <a:pt x="280" y="636"/>
                  </a:cubicBezTo>
                  <a:cubicBezTo>
                    <a:pt x="283" y="636"/>
                    <a:pt x="285" y="637"/>
                    <a:pt x="287" y="637"/>
                  </a:cubicBezTo>
                  <a:cubicBezTo>
                    <a:pt x="289" y="637"/>
                    <a:pt x="291" y="637"/>
                    <a:pt x="291" y="637"/>
                  </a:cubicBezTo>
                  <a:cubicBezTo>
                    <a:pt x="294" y="638"/>
                    <a:pt x="296" y="640"/>
                    <a:pt x="297" y="643"/>
                  </a:cubicBezTo>
                  <a:cubicBezTo>
                    <a:pt x="297" y="643"/>
                    <a:pt x="298" y="645"/>
                    <a:pt x="299" y="648"/>
                  </a:cubicBezTo>
                  <a:cubicBezTo>
                    <a:pt x="300" y="651"/>
                    <a:pt x="302" y="655"/>
                    <a:pt x="303" y="659"/>
                  </a:cubicBezTo>
                  <a:cubicBezTo>
                    <a:pt x="306" y="666"/>
                    <a:pt x="310" y="674"/>
                    <a:pt x="310" y="674"/>
                  </a:cubicBezTo>
                  <a:cubicBezTo>
                    <a:pt x="311" y="677"/>
                    <a:pt x="314" y="679"/>
                    <a:pt x="318" y="679"/>
                  </a:cubicBezTo>
                  <a:cubicBezTo>
                    <a:pt x="318" y="679"/>
                    <a:pt x="320" y="679"/>
                    <a:pt x="322" y="679"/>
                  </a:cubicBezTo>
                  <a:cubicBezTo>
                    <a:pt x="325" y="679"/>
                    <a:pt x="328" y="680"/>
                    <a:pt x="331" y="680"/>
                  </a:cubicBezTo>
                  <a:cubicBezTo>
                    <a:pt x="335" y="680"/>
                    <a:pt x="338" y="680"/>
                    <a:pt x="340" y="680"/>
                  </a:cubicBezTo>
                  <a:cubicBezTo>
                    <a:pt x="343" y="680"/>
                    <a:pt x="345" y="680"/>
                    <a:pt x="345" y="680"/>
                  </a:cubicBezTo>
                  <a:close/>
                  <a:moveTo>
                    <a:pt x="334" y="592"/>
                  </a:moveTo>
                  <a:cubicBezTo>
                    <a:pt x="320" y="592"/>
                    <a:pt x="307" y="590"/>
                    <a:pt x="297" y="588"/>
                  </a:cubicBezTo>
                  <a:cubicBezTo>
                    <a:pt x="295" y="588"/>
                    <a:pt x="293" y="588"/>
                    <a:pt x="291" y="587"/>
                  </a:cubicBezTo>
                  <a:cubicBezTo>
                    <a:pt x="289" y="587"/>
                    <a:pt x="287" y="586"/>
                    <a:pt x="285" y="586"/>
                  </a:cubicBezTo>
                  <a:cubicBezTo>
                    <a:pt x="284" y="586"/>
                    <a:pt x="283" y="586"/>
                    <a:pt x="282" y="585"/>
                  </a:cubicBezTo>
                  <a:cubicBezTo>
                    <a:pt x="281" y="585"/>
                    <a:pt x="281" y="585"/>
                    <a:pt x="281" y="585"/>
                  </a:cubicBezTo>
                  <a:cubicBezTo>
                    <a:pt x="281" y="585"/>
                    <a:pt x="279" y="585"/>
                    <a:pt x="277" y="584"/>
                  </a:cubicBezTo>
                  <a:cubicBezTo>
                    <a:pt x="274" y="583"/>
                    <a:pt x="270" y="582"/>
                    <a:pt x="265" y="581"/>
                  </a:cubicBezTo>
                  <a:cubicBezTo>
                    <a:pt x="255" y="578"/>
                    <a:pt x="243" y="573"/>
                    <a:pt x="231" y="567"/>
                  </a:cubicBezTo>
                  <a:cubicBezTo>
                    <a:pt x="225" y="565"/>
                    <a:pt x="219" y="561"/>
                    <a:pt x="214" y="558"/>
                  </a:cubicBezTo>
                  <a:cubicBezTo>
                    <a:pt x="208" y="555"/>
                    <a:pt x="203" y="552"/>
                    <a:pt x="199" y="549"/>
                  </a:cubicBezTo>
                  <a:cubicBezTo>
                    <a:pt x="197" y="548"/>
                    <a:pt x="195" y="547"/>
                    <a:pt x="194" y="546"/>
                  </a:cubicBezTo>
                  <a:cubicBezTo>
                    <a:pt x="192" y="544"/>
                    <a:pt x="191" y="543"/>
                    <a:pt x="189" y="542"/>
                  </a:cubicBezTo>
                  <a:cubicBezTo>
                    <a:pt x="187" y="541"/>
                    <a:pt x="186" y="540"/>
                    <a:pt x="186" y="540"/>
                  </a:cubicBezTo>
                  <a:cubicBezTo>
                    <a:pt x="186" y="540"/>
                    <a:pt x="185" y="539"/>
                    <a:pt x="185" y="539"/>
                  </a:cubicBezTo>
                  <a:cubicBezTo>
                    <a:pt x="184" y="538"/>
                    <a:pt x="183" y="538"/>
                    <a:pt x="182" y="537"/>
                  </a:cubicBezTo>
                  <a:cubicBezTo>
                    <a:pt x="180" y="535"/>
                    <a:pt x="177" y="532"/>
                    <a:pt x="173" y="529"/>
                  </a:cubicBezTo>
                  <a:cubicBezTo>
                    <a:pt x="166" y="523"/>
                    <a:pt x="156" y="513"/>
                    <a:pt x="147" y="503"/>
                  </a:cubicBezTo>
                  <a:cubicBezTo>
                    <a:pt x="139" y="493"/>
                    <a:pt x="131" y="482"/>
                    <a:pt x="126" y="474"/>
                  </a:cubicBezTo>
                  <a:cubicBezTo>
                    <a:pt x="124" y="472"/>
                    <a:pt x="123" y="470"/>
                    <a:pt x="122" y="468"/>
                  </a:cubicBezTo>
                  <a:cubicBezTo>
                    <a:pt x="121" y="466"/>
                    <a:pt x="120" y="464"/>
                    <a:pt x="120" y="463"/>
                  </a:cubicBezTo>
                  <a:cubicBezTo>
                    <a:pt x="119" y="462"/>
                    <a:pt x="118" y="461"/>
                    <a:pt x="118" y="460"/>
                  </a:cubicBezTo>
                  <a:cubicBezTo>
                    <a:pt x="117" y="460"/>
                    <a:pt x="117" y="459"/>
                    <a:pt x="117" y="459"/>
                  </a:cubicBezTo>
                  <a:cubicBezTo>
                    <a:pt x="117" y="459"/>
                    <a:pt x="117" y="458"/>
                    <a:pt x="115" y="455"/>
                  </a:cubicBezTo>
                  <a:cubicBezTo>
                    <a:pt x="114" y="453"/>
                    <a:pt x="112" y="449"/>
                    <a:pt x="110" y="444"/>
                  </a:cubicBezTo>
                  <a:cubicBezTo>
                    <a:pt x="109" y="442"/>
                    <a:pt x="108" y="440"/>
                    <a:pt x="107" y="437"/>
                  </a:cubicBezTo>
                  <a:cubicBezTo>
                    <a:pt x="106" y="434"/>
                    <a:pt x="104" y="432"/>
                    <a:pt x="103" y="429"/>
                  </a:cubicBezTo>
                  <a:cubicBezTo>
                    <a:pt x="102" y="426"/>
                    <a:pt x="101" y="423"/>
                    <a:pt x="100" y="420"/>
                  </a:cubicBezTo>
                  <a:cubicBezTo>
                    <a:pt x="99" y="417"/>
                    <a:pt x="98" y="413"/>
                    <a:pt x="97" y="410"/>
                  </a:cubicBezTo>
                  <a:cubicBezTo>
                    <a:pt x="93" y="398"/>
                    <a:pt x="91" y="384"/>
                    <a:pt x="89" y="375"/>
                  </a:cubicBezTo>
                  <a:cubicBezTo>
                    <a:pt x="88" y="365"/>
                    <a:pt x="87" y="358"/>
                    <a:pt x="87" y="358"/>
                  </a:cubicBezTo>
                  <a:cubicBezTo>
                    <a:pt x="87" y="358"/>
                    <a:pt x="87" y="356"/>
                    <a:pt x="87" y="354"/>
                  </a:cubicBezTo>
                  <a:cubicBezTo>
                    <a:pt x="87" y="351"/>
                    <a:pt x="87" y="347"/>
                    <a:pt x="87" y="342"/>
                  </a:cubicBezTo>
                  <a:cubicBezTo>
                    <a:pt x="87" y="332"/>
                    <a:pt x="87" y="318"/>
                    <a:pt x="89" y="305"/>
                  </a:cubicBezTo>
                  <a:cubicBezTo>
                    <a:pt x="91" y="292"/>
                    <a:pt x="94" y="279"/>
                    <a:pt x="96" y="269"/>
                  </a:cubicBezTo>
                  <a:cubicBezTo>
                    <a:pt x="98" y="264"/>
                    <a:pt x="99" y="261"/>
                    <a:pt x="100" y="258"/>
                  </a:cubicBezTo>
                  <a:cubicBezTo>
                    <a:pt x="100" y="256"/>
                    <a:pt x="101" y="255"/>
                    <a:pt x="101" y="255"/>
                  </a:cubicBezTo>
                  <a:cubicBezTo>
                    <a:pt x="101" y="254"/>
                    <a:pt x="101" y="253"/>
                    <a:pt x="101" y="253"/>
                  </a:cubicBezTo>
                  <a:cubicBezTo>
                    <a:pt x="101" y="253"/>
                    <a:pt x="102" y="252"/>
                    <a:pt x="103" y="249"/>
                  </a:cubicBezTo>
                  <a:cubicBezTo>
                    <a:pt x="103" y="248"/>
                    <a:pt x="104" y="246"/>
                    <a:pt x="105" y="244"/>
                  </a:cubicBezTo>
                  <a:cubicBezTo>
                    <a:pt x="106" y="242"/>
                    <a:pt x="106" y="240"/>
                    <a:pt x="107" y="238"/>
                  </a:cubicBezTo>
                  <a:cubicBezTo>
                    <a:pt x="109" y="233"/>
                    <a:pt x="112" y="228"/>
                    <a:pt x="115" y="223"/>
                  </a:cubicBezTo>
                  <a:cubicBezTo>
                    <a:pt x="118" y="217"/>
                    <a:pt x="121" y="211"/>
                    <a:pt x="124" y="206"/>
                  </a:cubicBezTo>
                  <a:cubicBezTo>
                    <a:pt x="131" y="194"/>
                    <a:pt x="139" y="183"/>
                    <a:pt x="145" y="176"/>
                  </a:cubicBezTo>
                  <a:cubicBezTo>
                    <a:pt x="149" y="172"/>
                    <a:pt x="151" y="169"/>
                    <a:pt x="153" y="167"/>
                  </a:cubicBezTo>
                  <a:cubicBezTo>
                    <a:pt x="155" y="165"/>
                    <a:pt x="156" y="164"/>
                    <a:pt x="156" y="164"/>
                  </a:cubicBezTo>
                  <a:cubicBezTo>
                    <a:pt x="156" y="164"/>
                    <a:pt x="158" y="162"/>
                    <a:pt x="160" y="160"/>
                  </a:cubicBezTo>
                  <a:cubicBezTo>
                    <a:pt x="162" y="158"/>
                    <a:pt x="165" y="155"/>
                    <a:pt x="168" y="152"/>
                  </a:cubicBezTo>
                  <a:cubicBezTo>
                    <a:pt x="176" y="145"/>
                    <a:pt x="186" y="137"/>
                    <a:pt x="197" y="129"/>
                  </a:cubicBezTo>
                  <a:cubicBezTo>
                    <a:pt x="208" y="122"/>
                    <a:pt x="220" y="115"/>
                    <a:pt x="229" y="111"/>
                  </a:cubicBezTo>
                  <a:cubicBezTo>
                    <a:pt x="233" y="108"/>
                    <a:pt x="237" y="107"/>
                    <a:pt x="239" y="106"/>
                  </a:cubicBezTo>
                  <a:cubicBezTo>
                    <a:pt x="242" y="104"/>
                    <a:pt x="244" y="104"/>
                    <a:pt x="244" y="104"/>
                  </a:cubicBezTo>
                  <a:cubicBezTo>
                    <a:pt x="244" y="104"/>
                    <a:pt x="245" y="103"/>
                    <a:pt x="248" y="102"/>
                  </a:cubicBezTo>
                  <a:cubicBezTo>
                    <a:pt x="251" y="101"/>
                    <a:pt x="254" y="99"/>
                    <a:pt x="259" y="98"/>
                  </a:cubicBezTo>
                  <a:cubicBezTo>
                    <a:pt x="269" y="95"/>
                    <a:pt x="281" y="91"/>
                    <a:pt x="294" y="89"/>
                  </a:cubicBezTo>
                  <a:cubicBezTo>
                    <a:pt x="301" y="87"/>
                    <a:pt x="308" y="87"/>
                    <a:pt x="314" y="86"/>
                  </a:cubicBezTo>
                  <a:cubicBezTo>
                    <a:pt x="320" y="85"/>
                    <a:pt x="326" y="85"/>
                    <a:pt x="331" y="85"/>
                  </a:cubicBezTo>
                  <a:cubicBezTo>
                    <a:pt x="333" y="85"/>
                    <a:pt x="336" y="85"/>
                    <a:pt x="338" y="85"/>
                  </a:cubicBezTo>
                  <a:cubicBezTo>
                    <a:pt x="340" y="85"/>
                    <a:pt x="341" y="85"/>
                    <a:pt x="343" y="85"/>
                  </a:cubicBezTo>
                  <a:cubicBezTo>
                    <a:pt x="346" y="85"/>
                    <a:pt x="347" y="85"/>
                    <a:pt x="347" y="85"/>
                  </a:cubicBezTo>
                  <a:cubicBezTo>
                    <a:pt x="347" y="85"/>
                    <a:pt x="348" y="85"/>
                    <a:pt x="349" y="85"/>
                  </a:cubicBezTo>
                  <a:cubicBezTo>
                    <a:pt x="349" y="85"/>
                    <a:pt x="350" y="85"/>
                    <a:pt x="352" y="85"/>
                  </a:cubicBezTo>
                  <a:cubicBezTo>
                    <a:pt x="355" y="85"/>
                    <a:pt x="359" y="85"/>
                    <a:pt x="364" y="86"/>
                  </a:cubicBezTo>
                  <a:cubicBezTo>
                    <a:pt x="374" y="87"/>
                    <a:pt x="387" y="89"/>
                    <a:pt x="400" y="92"/>
                  </a:cubicBezTo>
                  <a:cubicBezTo>
                    <a:pt x="413" y="95"/>
                    <a:pt x="426" y="99"/>
                    <a:pt x="435" y="103"/>
                  </a:cubicBezTo>
                  <a:cubicBezTo>
                    <a:pt x="439" y="105"/>
                    <a:pt x="443" y="106"/>
                    <a:pt x="446" y="107"/>
                  </a:cubicBezTo>
                  <a:cubicBezTo>
                    <a:pt x="449" y="109"/>
                    <a:pt x="450" y="109"/>
                    <a:pt x="450" y="109"/>
                  </a:cubicBezTo>
                  <a:cubicBezTo>
                    <a:pt x="450" y="109"/>
                    <a:pt x="456" y="112"/>
                    <a:pt x="465" y="117"/>
                  </a:cubicBezTo>
                  <a:cubicBezTo>
                    <a:pt x="473" y="122"/>
                    <a:pt x="485" y="129"/>
                    <a:pt x="495" y="137"/>
                  </a:cubicBezTo>
                  <a:cubicBezTo>
                    <a:pt x="498" y="139"/>
                    <a:pt x="500" y="141"/>
                    <a:pt x="503" y="143"/>
                  </a:cubicBezTo>
                  <a:cubicBezTo>
                    <a:pt x="505" y="145"/>
                    <a:pt x="508" y="147"/>
                    <a:pt x="510" y="150"/>
                  </a:cubicBezTo>
                  <a:cubicBezTo>
                    <a:pt x="512" y="152"/>
                    <a:pt x="515" y="154"/>
                    <a:pt x="517" y="156"/>
                  </a:cubicBezTo>
                  <a:cubicBezTo>
                    <a:pt x="519" y="158"/>
                    <a:pt x="521" y="160"/>
                    <a:pt x="522" y="161"/>
                  </a:cubicBezTo>
                  <a:cubicBezTo>
                    <a:pt x="526" y="165"/>
                    <a:pt x="529" y="168"/>
                    <a:pt x="531" y="170"/>
                  </a:cubicBezTo>
                  <a:cubicBezTo>
                    <a:pt x="533" y="172"/>
                    <a:pt x="534" y="174"/>
                    <a:pt x="534" y="174"/>
                  </a:cubicBezTo>
                  <a:cubicBezTo>
                    <a:pt x="534" y="174"/>
                    <a:pt x="534" y="174"/>
                    <a:pt x="534" y="175"/>
                  </a:cubicBezTo>
                  <a:cubicBezTo>
                    <a:pt x="535" y="175"/>
                    <a:pt x="536" y="176"/>
                    <a:pt x="537" y="177"/>
                  </a:cubicBezTo>
                  <a:cubicBezTo>
                    <a:pt x="537" y="178"/>
                    <a:pt x="539" y="180"/>
                    <a:pt x="540" y="181"/>
                  </a:cubicBezTo>
                  <a:cubicBezTo>
                    <a:pt x="541" y="183"/>
                    <a:pt x="543" y="185"/>
                    <a:pt x="544" y="187"/>
                  </a:cubicBezTo>
                  <a:cubicBezTo>
                    <a:pt x="550" y="195"/>
                    <a:pt x="557" y="206"/>
                    <a:pt x="564" y="218"/>
                  </a:cubicBezTo>
                  <a:cubicBezTo>
                    <a:pt x="570" y="229"/>
                    <a:pt x="575" y="241"/>
                    <a:pt x="579" y="251"/>
                  </a:cubicBezTo>
                  <a:cubicBezTo>
                    <a:pt x="580" y="255"/>
                    <a:pt x="582" y="259"/>
                    <a:pt x="583" y="262"/>
                  </a:cubicBezTo>
                  <a:cubicBezTo>
                    <a:pt x="583" y="264"/>
                    <a:pt x="583" y="265"/>
                    <a:pt x="584" y="265"/>
                  </a:cubicBezTo>
                  <a:cubicBezTo>
                    <a:pt x="584" y="266"/>
                    <a:pt x="584" y="267"/>
                    <a:pt x="584" y="267"/>
                  </a:cubicBezTo>
                  <a:cubicBezTo>
                    <a:pt x="584" y="267"/>
                    <a:pt x="584" y="268"/>
                    <a:pt x="585" y="271"/>
                  </a:cubicBezTo>
                  <a:cubicBezTo>
                    <a:pt x="586" y="272"/>
                    <a:pt x="586" y="274"/>
                    <a:pt x="587" y="276"/>
                  </a:cubicBezTo>
                  <a:cubicBezTo>
                    <a:pt x="587" y="278"/>
                    <a:pt x="588" y="280"/>
                    <a:pt x="588" y="283"/>
                  </a:cubicBezTo>
                  <a:cubicBezTo>
                    <a:pt x="589" y="287"/>
                    <a:pt x="590" y="293"/>
                    <a:pt x="591" y="299"/>
                  </a:cubicBezTo>
                  <a:cubicBezTo>
                    <a:pt x="592" y="305"/>
                    <a:pt x="593" y="312"/>
                    <a:pt x="594" y="319"/>
                  </a:cubicBezTo>
                  <a:cubicBezTo>
                    <a:pt x="595" y="332"/>
                    <a:pt x="595" y="345"/>
                    <a:pt x="594" y="355"/>
                  </a:cubicBezTo>
                  <a:cubicBezTo>
                    <a:pt x="593" y="360"/>
                    <a:pt x="593" y="364"/>
                    <a:pt x="593" y="367"/>
                  </a:cubicBezTo>
                  <a:cubicBezTo>
                    <a:pt x="592" y="370"/>
                    <a:pt x="592" y="372"/>
                    <a:pt x="592" y="372"/>
                  </a:cubicBezTo>
                  <a:cubicBezTo>
                    <a:pt x="592" y="372"/>
                    <a:pt x="592" y="372"/>
                    <a:pt x="592" y="373"/>
                  </a:cubicBezTo>
                  <a:cubicBezTo>
                    <a:pt x="592" y="374"/>
                    <a:pt x="592" y="375"/>
                    <a:pt x="591" y="376"/>
                  </a:cubicBezTo>
                  <a:cubicBezTo>
                    <a:pt x="591" y="378"/>
                    <a:pt x="591" y="379"/>
                    <a:pt x="591" y="381"/>
                  </a:cubicBezTo>
                  <a:cubicBezTo>
                    <a:pt x="590" y="383"/>
                    <a:pt x="590" y="386"/>
                    <a:pt x="589" y="388"/>
                  </a:cubicBezTo>
                  <a:cubicBezTo>
                    <a:pt x="588" y="398"/>
                    <a:pt x="584" y="411"/>
                    <a:pt x="580" y="423"/>
                  </a:cubicBezTo>
                  <a:cubicBezTo>
                    <a:pt x="575" y="436"/>
                    <a:pt x="570" y="448"/>
                    <a:pt x="565" y="457"/>
                  </a:cubicBezTo>
                  <a:cubicBezTo>
                    <a:pt x="563" y="461"/>
                    <a:pt x="561" y="465"/>
                    <a:pt x="559" y="467"/>
                  </a:cubicBezTo>
                  <a:cubicBezTo>
                    <a:pt x="558" y="470"/>
                    <a:pt x="557" y="471"/>
                    <a:pt x="557" y="471"/>
                  </a:cubicBezTo>
                  <a:cubicBezTo>
                    <a:pt x="557" y="471"/>
                    <a:pt x="556" y="473"/>
                    <a:pt x="554" y="475"/>
                  </a:cubicBezTo>
                  <a:cubicBezTo>
                    <a:pt x="553" y="478"/>
                    <a:pt x="550" y="481"/>
                    <a:pt x="548" y="485"/>
                  </a:cubicBezTo>
                  <a:cubicBezTo>
                    <a:pt x="542" y="493"/>
                    <a:pt x="534" y="504"/>
                    <a:pt x="525" y="513"/>
                  </a:cubicBezTo>
                  <a:cubicBezTo>
                    <a:pt x="515" y="523"/>
                    <a:pt x="505" y="532"/>
                    <a:pt x="497" y="538"/>
                  </a:cubicBezTo>
                  <a:cubicBezTo>
                    <a:pt x="496" y="539"/>
                    <a:pt x="496" y="539"/>
                    <a:pt x="495" y="540"/>
                  </a:cubicBezTo>
                  <a:cubicBezTo>
                    <a:pt x="494" y="541"/>
                    <a:pt x="493" y="541"/>
                    <a:pt x="492" y="542"/>
                  </a:cubicBezTo>
                  <a:cubicBezTo>
                    <a:pt x="490" y="543"/>
                    <a:pt x="489" y="544"/>
                    <a:pt x="488" y="545"/>
                  </a:cubicBezTo>
                  <a:cubicBezTo>
                    <a:pt x="485" y="547"/>
                    <a:pt x="484" y="548"/>
                    <a:pt x="484" y="548"/>
                  </a:cubicBezTo>
                  <a:cubicBezTo>
                    <a:pt x="484" y="548"/>
                    <a:pt x="483" y="549"/>
                    <a:pt x="480" y="550"/>
                  </a:cubicBezTo>
                  <a:cubicBezTo>
                    <a:pt x="479" y="551"/>
                    <a:pt x="478" y="552"/>
                    <a:pt x="476" y="553"/>
                  </a:cubicBezTo>
                  <a:cubicBezTo>
                    <a:pt x="475" y="554"/>
                    <a:pt x="474" y="554"/>
                    <a:pt x="473" y="555"/>
                  </a:cubicBezTo>
                  <a:cubicBezTo>
                    <a:pt x="472" y="555"/>
                    <a:pt x="471" y="556"/>
                    <a:pt x="470" y="557"/>
                  </a:cubicBezTo>
                  <a:cubicBezTo>
                    <a:pt x="461" y="562"/>
                    <a:pt x="450" y="568"/>
                    <a:pt x="437" y="573"/>
                  </a:cubicBezTo>
                  <a:cubicBezTo>
                    <a:pt x="425" y="578"/>
                    <a:pt x="412" y="582"/>
                    <a:pt x="403" y="585"/>
                  </a:cubicBezTo>
                  <a:cubicBezTo>
                    <a:pt x="398" y="586"/>
                    <a:pt x="394" y="587"/>
                    <a:pt x="391" y="587"/>
                  </a:cubicBezTo>
                  <a:cubicBezTo>
                    <a:pt x="388" y="588"/>
                    <a:pt x="387" y="588"/>
                    <a:pt x="387" y="588"/>
                  </a:cubicBezTo>
                  <a:cubicBezTo>
                    <a:pt x="387" y="588"/>
                    <a:pt x="385" y="588"/>
                    <a:pt x="382" y="589"/>
                  </a:cubicBezTo>
                  <a:cubicBezTo>
                    <a:pt x="379" y="589"/>
                    <a:pt x="375" y="590"/>
                    <a:pt x="370" y="591"/>
                  </a:cubicBezTo>
                  <a:cubicBezTo>
                    <a:pt x="360" y="592"/>
                    <a:pt x="347" y="593"/>
                    <a:pt x="334" y="5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sz="1534">
                <a:cs typeface="+mn-ea"/>
                <a:sym typeface="+mn-lt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2166ABA-1800-3B98-DAB2-C1DF180BC23B}"/>
                </a:ext>
              </a:extLst>
            </p:cNvPr>
            <p:cNvSpPr txBox="1"/>
            <p:nvPr/>
          </p:nvSpPr>
          <p:spPr>
            <a:xfrm>
              <a:off x="984068" y="2586885"/>
              <a:ext cx="319725" cy="548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4F3D22ED-E3D6-4E04-A8F1-0554542A7858}"/>
                  </a:ext>
                </a:extLst>
              </p:cNvPr>
              <p:cNvSpPr txBox="1"/>
              <p:nvPr/>
            </p:nvSpPr>
            <p:spPr>
              <a:xfrm>
                <a:off x="3843194" y="4052740"/>
                <a:ext cx="1690719" cy="8219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200" i="1" dirty="0">
                    <a:solidFill>
                      <a:schemeClr val="tx1"/>
                    </a:solidFill>
                  </a:rPr>
                  <a:t>           </a:t>
                </a:r>
                <a:r>
                  <a:rPr lang="en-US" altLang="zh-CN" sz="1600" i="1" dirty="0">
                    <a:solidFill>
                      <a:schemeClr val="tx1"/>
                    </a:solidFill>
                  </a:rPr>
                  <a:t>MSE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𝑑𝑎𝑖𝑙𝑦</m:t>
                        </m:r>
                      </m:sub>
                    </m:sSub>
                  </m:oMath>
                </a14:m>
                <a:r>
                  <a:rPr lang="en-US" altLang="zh-CN" sz="1600" i="1" dirty="0"/>
                  <a:t> 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i="1" dirty="0"/>
                  <a:t>Observed data)</a:t>
                </a:r>
                <a:endParaRPr lang="zh-CN" altLang="en-US" sz="1600" i="1" dirty="0"/>
              </a:p>
            </p:txBody>
          </p:sp>
        </mc:Choice>
        <mc:Fallback xmlns=""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4F3D22ED-E3D6-4E04-A8F1-0554542A7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194" y="4052740"/>
                <a:ext cx="1690719" cy="821956"/>
              </a:xfrm>
              <a:prstGeom prst="rect">
                <a:avLst/>
              </a:prstGeom>
              <a:blipFill>
                <a:blip r:embed="rId14"/>
                <a:stretch>
                  <a:fillRect l="-1799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524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2DF1BA-2380-4583-B206-DE50B10AF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785" y="0"/>
            <a:ext cx="6011980" cy="738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222</Words>
  <Application>Microsoft Office PowerPoint</Application>
  <PresentationFormat>自定义</PresentationFormat>
  <Paragraphs>83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>generated using python-pptx</dc:description>
  <cp:lastModifiedBy>Hao Wang</cp:lastModifiedBy>
  <cp:revision>55</cp:revision>
  <dcterms:created xsi:type="dcterms:W3CDTF">2013-01-27T09:14:16Z</dcterms:created>
  <dcterms:modified xsi:type="dcterms:W3CDTF">2025-10-24T23:16:08Z</dcterms:modified>
  <cp:category/>
</cp:coreProperties>
</file>